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5e0ccf47534b90" /><Relationship Type="http://schemas.openxmlformats.org/officeDocument/2006/relationships/extended-properties" Target="/docProps/app.xml" Id="Rb3b199ec2e474f7f" /><Relationship Type="http://schemas.openxmlformats.org/officeDocument/2006/relationships/officeDocument" Target="/ppt/presentation.xml" Id="R93fb16ea31fa4f39" /></Relationships>
</file>

<file path=ppt/presentation.xml><?xml version="1.0" encoding="utf-8"?>
<p:presentation xmlns:p="http://schemas.openxmlformats.org/presentationml/2006/main">
  <p:sldMasterIdLst>
    <p:sldMasterId xmlns:r="http://schemas.openxmlformats.org/officeDocument/2006/relationships" id="2147483648" r:id="R9daee1a75a1b4a0f"/>
  </p:sldMasterIdLst>
  <p:notesMasterIdLst>
    <p:notesMasterId xmlns:r="http://schemas.openxmlformats.org/officeDocument/2006/relationships" r:id="R7139649b577d4b60"/>
  </p:notesMasterIdLst>
  <p:sldIdLst>
    <p:sldId xmlns:r="http://schemas.openxmlformats.org/officeDocument/2006/relationships" id="256" r:id="R4bc508d3c391465c"/>
    <p:sldId xmlns:r="http://schemas.openxmlformats.org/officeDocument/2006/relationships" id="257" r:id="R45ed961a6da5413e"/>
    <p:sldId xmlns:r="http://schemas.openxmlformats.org/officeDocument/2006/relationships" id="258" r:id="Rd012d67278e748bd"/>
    <p:sldId xmlns:r="http://schemas.openxmlformats.org/officeDocument/2006/relationships" id="259" r:id="R2426ef10df6f4dbf"/>
    <p:sldId xmlns:r="http://schemas.openxmlformats.org/officeDocument/2006/relationships" id="260" r:id="Rdeeb282e7fac451a"/>
    <p:sldId xmlns:r="http://schemas.openxmlformats.org/officeDocument/2006/relationships" id="261" r:id="R953bea4110814852"/>
    <p:sldId xmlns:r="http://schemas.openxmlformats.org/officeDocument/2006/relationships" id="262" r:id="R75b8ac26b97c42e9"/>
    <p:sldId xmlns:r="http://schemas.openxmlformats.org/officeDocument/2006/relationships" id="263" r:id="Ra8f3d0975da34e7b"/>
    <p:sldId xmlns:r="http://schemas.openxmlformats.org/officeDocument/2006/relationships" id="264" r:id="R6ce6029b644c48a8"/>
    <p:sldId xmlns:r="http://schemas.openxmlformats.org/officeDocument/2006/relationships" id="265" r:id="Rc6e599460cdf4f20"/>
    <p:sldId xmlns:r="http://schemas.openxmlformats.org/officeDocument/2006/relationships" id="266" r:id="Rf0ea24b6cc714963"/>
    <p:sldId xmlns:r="http://schemas.openxmlformats.org/officeDocument/2006/relationships" id="267" r:id="R308205f95f07460d"/>
    <p:sldId xmlns:r="http://schemas.openxmlformats.org/officeDocument/2006/relationships" id="268" r:id="R5aab25b7155e4d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8e95bc227045dc" /><Relationship Type="http://schemas.openxmlformats.org/officeDocument/2006/relationships/slideMaster" Target="/ppt/slideMasters/slideMaster1.xml" Id="R9daee1a75a1b4a0f" /><Relationship Type="http://schemas.openxmlformats.org/officeDocument/2006/relationships/notesMaster" Target="/ppt/notesMasters/notesMaster1.xml" Id="R7139649b577d4b60" /><Relationship Type="http://schemas.openxmlformats.org/officeDocument/2006/relationships/presProps" Target="/ppt/presProps.xml" Id="Rbd6d6f19584545ee" /><Relationship Type="http://schemas.openxmlformats.org/officeDocument/2006/relationships/tableStyles" Target="/ppt/tableStyles.xml" Id="Ra73b6164ee4842ff" /><Relationship Type="http://schemas.openxmlformats.org/officeDocument/2006/relationships/slide" Target="/ppt/slides/slide1.xml" Id="R4bc508d3c391465c" /><Relationship Type="http://schemas.openxmlformats.org/officeDocument/2006/relationships/slide" Target="/ppt/slides/slide2.xml" Id="R45ed961a6da5413e" /><Relationship Type="http://schemas.openxmlformats.org/officeDocument/2006/relationships/slide" Target="/ppt/slides/slide3.xml" Id="Rd012d67278e748bd" /><Relationship Type="http://schemas.openxmlformats.org/officeDocument/2006/relationships/slide" Target="/ppt/slides/slide4.xml" Id="R2426ef10df6f4dbf" /><Relationship Type="http://schemas.openxmlformats.org/officeDocument/2006/relationships/slide" Target="/ppt/slides/slide5.xml" Id="Rdeeb282e7fac451a" /><Relationship Type="http://schemas.openxmlformats.org/officeDocument/2006/relationships/slide" Target="/ppt/slides/slide6.xml" Id="R953bea4110814852" /><Relationship Type="http://schemas.openxmlformats.org/officeDocument/2006/relationships/slide" Target="/ppt/slides/slide7.xml" Id="R75b8ac26b97c42e9" /><Relationship Type="http://schemas.openxmlformats.org/officeDocument/2006/relationships/slide" Target="/ppt/slides/slide8.xml" Id="Ra8f3d0975da34e7b" /><Relationship Type="http://schemas.openxmlformats.org/officeDocument/2006/relationships/slide" Target="/ppt/slides/slide9.xml" Id="R6ce6029b644c48a8" /><Relationship Type="http://schemas.openxmlformats.org/officeDocument/2006/relationships/slide" Target="/ppt/slides/slide10.xml" Id="Rc6e599460cdf4f20" /><Relationship Type="http://schemas.openxmlformats.org/officeDocument/2006/relationships/slide" Target="/ppt/slides/slide11.xml" Id="Rf0ea24b6cc714963" /><Relationship Type="http://schemas.openxmlformats.org/officeDocument/2006/relationships/slide" Target="/ppt/slides/slide12.xml" Id="R308205f95f07460d" /><Relationship Type="http://schemas.openxmlformats.org/officeDocument/2006/relationships/slide" Target="/ppt/slides/slide13.xml" Id="R5aab25b7155e4d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b4b315f7e741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e2166492d24ee5" /><Relationship Type="http://schemas.openxmlformats.org/officeDocument/2006/relationships/notesMaster" Target="/ppt/notesMasters/notesMaster1.xml" Id="Rb0c0f98d47c843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78ba3836b949c3" /><Relationship Type="http://schemas.openxmlformats.org/officeDocument/2006/relationships/notesMaster" Target="/ppt/notesMasters/notesMaster1.xml" Id="R101b26b6388245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ef339f308d4260" /><Relationship Type="http://schemas.openxmlformats.org/officeDocument/2006/relationships/notesMaster" Target="/ppt/notesMasters/notesMaster1.xml" Id="Rebc04192052b46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3f8ab5039d49e8" /><Relationship Type="http://schemas.openxmlformats.org/officeDocument/2006/relationships/notesMaster" Target="/ppt/notesMasters/notesMaster1.xml" Id="R0f57118b656545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60f23d98f1488d" /><Relationship Type="http://schemas.openxmlformats.org/officeDocument/2006/relationships/notesMaster" Target="/ppt/notesMasters/notesMaster1.xml" Id="R7c292bfad2dc4d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be6437e49347f5" /><Relationship Type="http://schemas.openxmlformats.org/officeDocument/2006/relationships/notesMaster" Target="/ppt/notesMasters/notesMaster1.xml" Id="Rdd6aae2eb9c541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2fafcfbe824b76" /><Relationship Type="http://schemas.openxmlformats.org/officeDocument/2006/relationships/notesMaster" Target="/ppt/notesMasters/notesMaster1.xml" Id="Rd4a4f567b0df42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a170df31464b59" /><Relationship Type="http://schemas.openxmlformats.org/officeDocument/2006/relationships/notesMaster" Target="/ppt/notesMasters/notesMaster1.xml" Id="Rb775a6d244ae44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f5e4a26ee743d0" /><Relationship Type="http://schemas.openxmlformats.org/officeDocument/2006/relationships/notesMaster" Target="/ppt/notesMasters/notesMaster1.xml" Id="Re3961c0359dd42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5efcb9d67b41f9" /><Relationship Type="http://schemas.openxmlformats.org/officeDocument/2006/relationships/notesMaster" Target="/ppt/notesMasters/notesMaster1.xml" Id="R19190a8e2d1a4e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3e0be7018f48e9" /><Relationship Type="http://schemas.openxmlformats.org/officeDocument/2006/relationships/notesMaster" Target="/ppt/notesMasters/notesMaster1.xml" Id="Rf45c53aa181d44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a4e831fdfd4831" /><Relationship Type="http://schemas.openxmlformats.org/officeDocument/2006/relationships/notesMaster" Target="/ppt/notesMasters/notesMaster1.xml" Id="R1bee9f8cb1764a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6a7b2cdd734c41" /><Relationship Type="http://schemas.openxmlformats.org/officeDocument/2006/relationships/notesMaster" Target="/ppt/notesMasters/notesMaster1.xml" Id="R65d3afeaa05c42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We formulate a student scheduling problem with hard cutoffs. We preserve the original project motivation, but make shortage explicit. Our score measures stated priorities, not actual grades. The main presentation has 12 slides plus a reference slide.</a:t>
            </a:r>
          </a:p>
          <a:p xmlns:a="http://schemas.openxmlformats.org/drawingml/2006/main">
            <a:r>
              <a:t/>
            </a:r>
          </a:p>
          <a:p xmlns:a="http://schemas.openxmlformats.org/drawingml/2006/main">
            <a:r>
              <a:t>Sources: astra.md; astra-solve.py; astra-results.json. Synthetic inputs, not measured student data. Original team draft reviewed at commit 3aa964baabf7caf59562ac93b3e2c0f0410a88d8.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is a deliberately overloaded synthetic example. Eight targets need 44 half-hour slots, or 22 hours. Seven evenings of two hours supply 28 slots, or 14 hours. The eight-hour shortage exists even before considering release dates and deadlines. Optimization must decide which targets receive coverage.</a:t>
            </a:r>
          </a:p>
          <a:p xmlns:a="http://schemas.openxmlformats.org/drawingml/2006/main">
            <a:r>
              <a:t/>
            </a:r>
          </a:p>
          <a:p xmlns:a="http://schemas.openxmlformats.org/drawingml/2006/main">
            <a:r>
              <a:t>Sources: astra.md; astra-solve.py; astra-results.json. Synthetic inputs, not measured student data. Original team draft reviewed at commit 3aa964baabf7caf59562ac93b3e2c0f0410a88d8.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distinguish assignment completion from preparation coverage. This is a declared simplification. Partial-credit assignments and nonlinear learning would require a different reward model. v is a preference score on a common scale, not a measured effect on grades.</a:t>
            </a:r>
          </a:p>
          <a:p xmlns:a="http://schemas.openxmlformats.org/drawingml/2006/main">
            <a:r>
              <a:t/>
            </a:r>
          </a:p>
          <a:p xmlns:a="http://schemas.openxmlformats.org/drawingml/2006/main">
            <a:r>
              <a:t>Sources: astra.md; astra-solve.py; astra-results.json. Synthetic inputs, not measured student data. Original team draft reviewed at commit 3aa964baabf7caf59562ac93b3e2c0f0410a88d8.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a row to count task time and a column to check double-booking. This small calendar is the exhaustive test example. A requires two slots and earns five points. B is preparation, available in slots 2 and 3, with a target of two slots and total value four. The shown schedule earns seven.</a:t>
            </a:r>
          </a:p>
          <a:p xmlns:a="http://schemas.openxmlformats.org/drawingml/2006/main">
            <a:r>
              <a:t/>
            </a:r>
          </a:p>
          <a:p xmlns:a="http://schemas.openxmlformats.org/drawingml/2006/main">
            <a:r>
              <a:t>Sources: astra.md; astra-solve.py; astra-results.json. Synthetic inputs, not measured student data. Original team draft reviewed at commit 3aa964baabf7caf59562ac93b3e2c0f0410a88d8.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add the value of finished assignments and the proportional value of preparation. A and E in the report denote sets, not task labels in this explanatory sentence. The typeset report has the exact indexed expression. There is a single deterministic scalar objective. No claim about actual grades.</a:t>
            </a:r>
          </a:p>
          <a:p xmlns:a="http://schemas.openxmlformats.org/drawingml/2006/main">
            <a:r>
              <a:t/>
            </a:r>
          </a:p>
          <a:p xmlns:a="http://schemas.openxmlformats.org/drawingml/2006/main">
            <a:r>
              <a:t>Sources: astra.md; astra-solve.py; astra-results.json. Synthetic inputs, not measured student data. Original team draft reviewed at commit 3aa964baabf7caf59562ac93b3e2c0f0410a88d8.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row. Assignment sum equals p times the binary completion switch. Preparation only has a cap. Slot capacity combines free time and no overlap. Windows forbid work outside release and deadline. All variables are binary. The all-zero plan remains feasible, making unmet demand explicit. A mandatory assignment can fix y to one, but that may make the model infeasible.</a:t>
            </a:r>
          </a:p>
          <a:p xmlns:a="http://schemas.openxmlformats.org/drawingml/2006/main">
            <a:r>
              <a:t/>
            </a:r>
          </a:p>
          <a:p xmlns:a="http://schemas.openxmlformats.org/drawingml/2006/main">
            <a:r>
              <a:t>Sources: astra.md; astra-solve.py; astra-results.json. Synthetic inputs, not measured student data. Original team draft reviewed at commit 3aa964baabf7caf59562ac93b3e2c0f0410a88d8.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Binary integer linear program is the precise classification, a special case of MILP. All coefficients are fixed. p times y is linear because p is data. Nonconvexity comes from domains: the midpoint of a selected solution and the zero solution has forbidden fractional entries. The model permits pausing and resuming tasks. We do not use the earlier unsupported related-problem NP-hardness argument.</a:t>
            </a:r>
          </a:p>
          <a:p xmlns:a="http://schemas.openxmlformats.org/drawingml/2006/main">
            <a:r>
              <a:t/>
            </a:r>
          </a:p>
          <a:p xmlns:a="http://schemas.openxmlformats.org/drawingml/2006/main">
            <a:r>
              <a:t>Sources: astra.md; astra-solve.py; astra-results.json. Synthetic inputs, not measured student data. Original team draft reviewed at commit 3aa964baabf7caf59562ac93b3e2c0f0410a88d8.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scipy.optimize.milp with HiGHS. There are 93 retained binary variables and 36 constraint rows, after removing fixed-zero entries. The solver minimizes the negative of the report objective. The independent checker verifies extracted schedule feasibility and score. Five tests include exhaustive enumeration of 27 calendars with known optimum seven. The base solve took roughly 0.005 seconds on this machine, not including startup. Source: https://docs.scipy.org/doc/scipy/reference/generated/scipy.optimize.milp.html and https://highs.dev/.</a:t>
            </a:r>
          </a:p>
          <a:p xmlns:a="http://schemas.openxmlformats.org/drawingml/2006/main">
            <a:r>
              <a:t/>
            </a:r>
          </a:p>
          <a:p xmlns:a="http://schemas.openxmlformats.org/drawingml/2006/main">
            <a:r>
              <a:t>Sources: astra.md; astra-solve.py; astra-results.json. Synthetic inputs, not measured student data. Original team draft reviewed at commit 3aa964baabf7caf59562ac93b3e2c0f0410a88d8.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28 available slots support both plans. The baseline selects earliest deadline, then task ID, and does not deliberately choose a task it can no longer finish. The optimized plan gains thirteen points, 24.1 percent relative to this baseline. This is a synthetic preference score, not an increase in actual grades. It does not establish superiority over every heuristic or every possible input.</a:t>
            </a:r>
          </a:p>
          <a:p xmlns:a="http://schemas.openxmlformats.org/drawingml/2006/main">
            <a:r>
              <a:t/>
            </a:r>
          </a:p>
          <a:p xmlns:a="http://schemas.openxmlformats.org/drawingml/2006/main">
            <a:r>
              <a:t>Sources: astra.md; astra-solve.py; astra-results.json. Synthetic inputs, not measured student data. Original team draft reviewed at commit 3aa964baabf7caf59562ac93b3e2c0f0410a88d8.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assignments are D and E. C receives full preparation. F receives four of six slots and H two of four. A, B, and G are omitted and remain visible here. The output identifies shortage; it does not authorize ignoring obligations. The values are fully documented in the report.</a:t>
            </a:r>
          </a:p>
          <a:p xmlns:a="http://schemas.openxmlformats.org/drawingml/2006/main">
            <a:r>
              <a:t/>
            </a:r>
          </a:p>
          <a:p xmlns:a="http://schemas.openxmlformats.org/drawingml/2006/main">
            <a:r>
              <a:t>Sources: astra.md; astra-solve.py; astra-results.json. Synthetic inputs, not measured student data. Original team draft reviewed at commit 3aa964baabf7caf59562ac93b3e2c0f0410a88d8.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letter marks one half-hour. All available blocks run 18:00–20:00. C is fluid exam prep, D lab report, E design milestone, F math prep, H statistics prep. This is the actual solver-returned solution. Fragmentation on Thursday and Friday is a model limitation: we did not include switching cost. We do not quietly redraw the schedule to suggest the solver optimized session quality.</a:t>
            </a:r>
          </a:p>
          <a:p xmlns:a="http://schemas.openxmlformats.org/drawingml/2006/main">
            <a:r>
              <a:t/>
            </a:r>
          </a:p>
          <a:p xmlns:a="http://schemas.openxmlformats.org/drawingml/2006/main">
            <a:r>
              <a:t>Sources: astra.md; astra-solve.py; astra-results.json. Synthetic inputs, not measured student data. Original team draft reviewed at commit 3aa964baabf7caf59562ac93b3e2c0f0410a88d8.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sensitivity cases have zero reported relative gaps. Base 67; losing Wednesday evening 59; adding one hour daily 89; workload plus 25 percent rounded up 55; doubling reading value 67. The last case changes preference coefficients, so it is not a direct improvement comparison. A stable objective does not prove every optimizer is unchanged. Real deployment needs reliable effort estimates and transparent priorities.</a:t>
            </a:r>
          </a:p>
          <a:p xmlns:a="http://schemas.openxmlformats.org/drawingml/2006/main">
            <a:r>
              <a:t/>
            </a:r>
          </a:p>
          <a:p xmlns:a="http://schemas.openxmlformats.org/drawingml/2006/main">
            <a:r>
              <a:t>Sources: astra.md; astra-solve.py; astra-results.json. Synthetic inputs, not measured student data. Original team draft reviewed at commit 3aa964baabf7caf59562ac93b3e2c0f0410a88d8.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astra.md; astra-solve.py; astra-results.json. Synthetic inputs, not measured student data. Original team draft reviewed at commit 3aa964baabf7caf59562ac93b3e2c0f0410a88d8.</a:t>
            </a:r>
          </a:p>
          <a:p xmlns:a="http://schemas.openxmlformats.org/drawingml/2006/main">
            <a:r>
              <a:t>Teacher: https://designinformaticslab.github.io/DesignOptimization2025/project1_optimization_formulation.html</a:t>
            </a:r>
          </a:p>
          <a:p xmlns:a="http://schemas.openxmlformats.org/drawingml/2006/main">
            <a:r>
              <a:t>SciPy: https://docs.scipy.org/doc/scipy/reference/generated/scipy.optimize.milp.html</a:t>
            </a:r>
          </a:p>
          <a:p xmlns:a="http://schemas.openxmlformats.org/drawingml/2006/main">
            <a:r>
              <a:t>HiGHS: https://highs.dev/</a:t>
            </a:r>
          </a:p>
          <a:p xmlns:a="http://schemas.openxmlformats.org/drawingml/2006/main">
            <a:r>
              <a:t>Repository: https://github.com/cteraji-asu/MAE494598Optimization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45f1ec3bfc43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00815de43d42ca" /><Relationship Type="http://schemas.openxmlformats.org/officeDocument/2006/relationships/slideLayout" Target="/ppt/slideLayouts/slideLayout1.xml" Id="R007c5855227d4f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7c5855227d4f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8b0ed2214c4032" /><Relationship Type="http://schemas.openxmlformats.org/officeDocument/2006/relationships/notesSlide" Target="/ppt/notesSlides/notesSlide1.xml" Id="Rb6e5042e8b374e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82f7cfda92413f" /><Relationship Type="http://schemas.openxmlformats.org/officeDocument/2006/relationships/notesSlide" Target="/ppt/notesSlides/notesSlide2.xml" Id="R1965129f504045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8df31fceee45b3" /><Relationship Type="http://schemas.openxmlformats.org/officeDocument/2006/relationships/notesSlide" Target="/ppt/notesSlides/notesSlide3.xml" Id="Ra2fcf730ca0445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89bcbdea9a4ad7" /><Relationship Type="http://schemas.openxmlformats.org/officeDocument/2006/relationships/notesSlide" Target="/ppt/notesSlides/notesSlide4.xml" Id="Rabc826f522cd4f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22f769fe384402" /><Relationship Type="http://schemas.openxmlformats.org/officeDocument/2006/relationships/notesSlide" Target="/ppt/notesSlides/notesSlide5.xml" Id="R6a9058a78c4046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ed5a5ba8054871" /><Relationship Type="http://schemas.openxmlformats.org/officeDocument/2006/relationships/notesSlide" Target="/ppt/notesSlides/notesSlide6.xml" Id="Redeed361f11241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ccb2d8a42b4a9c" /><Relationship Type="http://schemas.openxmlformats.org/officeDocument/2006/relationships/notesSlide" Target="/ppt/notesSlides/notesSlide7.xml" Id="Rf53e17f78bdd43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7318d20ffc4836" /><Relationship Type="http://schemas.openxmlformats.org/officeDocument/2006/relationships/notesSlide" Target="/ppt/notesSlides/notesSlide8.xml" Id="Rb6489a25b94f4a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4745fcbc54f47fe" /><Relationship Type="http://schemas.openxmlformats.org/officeDocument/2006/relationships/notesSlide" Target="/ppt/notesSlides/notesSlide9.xml" Id="R34a0fc6711484d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eee2118bd304876" /><Relationship Type="http://schemas.openxmlformats.org/officeDocument/2006/relationships/notesSlide" Target="/ppt/notesSlides/notesSlide10.xml" Id="R17a4fa9d4ceb49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59c6c5face14896" /><Relationship Type="http://schemas.openxmlformats.org/officeDocument/2006/relationships/notesSlide" Target="/ppt/notesSlides/notesSlide11.xml" Id="R6921e6dfd0a34e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0703de1eb894369" /><Relationship Type="http://schemas.openxmlformats.org/officeDocument/2006/relationships/notesSlide" Target="/ppt/notesSlides/notesSlide12.xml" Id="Rba1c9f41ac854d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4749501951a4db5" /><Relationship Type="http://schemas.openxmlformats.org/officeDocument/2006/relationships/notesSlide" Target="/ppt/notesSlides/notesSlide13.xml" Id="R085d86569744474d" /></Relationships>
</file>

<file path=ppt/slides/slide1.xml><?xml version="1.0" encoding="utf-8"?>
<p:sld xmlns:p="http://schemas.openxmlformats.org/presentationml/2006/main">
  <p:cSld>
    <p:bg>
      <p:bgPr>
        <a:solidFill xmlns:a="http://schemas.openxmlformats.org/drawingml/2006/main">
          <a:srgbClr val="10233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1CC322-E4AF-46D5-B785-51D2C1789A7E}"/>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4EF"/>
                </a:solidFill>
                <a:latin typeface="Aptos"/>
                <a:ea typeface="Aptos"/>
                <a:cs typeface="Aptos"/>
              </a:defRPr>
            </a:pPr>
            <a:r>
              <a:rPr sz="3450" b="1">
                <a:solidFill>
                  <a:srgbClr val="F5F4EF"/>
                </a:solidFill>
                <a:latin typeface="Aptos"/>
                <a:ea typeface="Aptos"/>
                <a:cs typeface="Aptos"/>
              </a:rPr>
              <a:t>Student work scheduling</a:t>
            </a:r>
          </a:p>
        </p:txBody>
      </p:sp>
      <p:sp>
        <p:nvSpPr>
          <p:cNvPr id="2" name="">
            <a:extLst xmlns:a="http://schemas.openxmlformats.org/drawingml/2006/main">
              <a:ext uri="{FF2B5EF4-FFF2-40B4-BE49-F238E27FC236}">
                <a16:creationId xmlns:a16="http://schemas.microsoft.com/office/drawing/2014/main" id="{C3888045-CB5B-49DC-9685-204E0682F255}"/>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4CAD3"/>
                </a:solidFill>
                <a:latin typeface="Aptos"/>
                <a:ea typeface="Aptos"/>
                <a:cs typeface="Aptos"/>
              </a:defRPr>
            </a:pPr>
            <a:r>
              <a:rPr sz="1350" b="0">
                <a:solidFill>
                  <a:srgbClr val="B4CAD3"/>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706708E2-1364-4298-9741-ADB6B13FA106}"/>
              </a:ext>
            </a:extLst>
          </p:cNvPr>
          <p:cNvSpPr>
            <a:spLocks xmlns:a="http://schemas.openxmlformats.org/drawingml/2006/main" noGrp="1"/>
          </p:cNvSpPr>
          <p:nvPr/>
        </p:nvSpPr>
        <p:spPr>
          <a:xfrm xmlns:a="http://schemas.openxmlformats.org/drawingml/2006/main">
            <a:off x="609600" y="1971675"/>
            <a:ext cx="10477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5F4EF"/>
                </a:solidFill>
                <a:latin typeface="Aptos"/>
                <a:ea typeface="Aptos"/>
                <a:cs typeface="Aptos"/>
              </a:defRPr>
            </a:pPr>
            <a:r>
              <a:rPr sz="4875" b="1">
                <a:solidFill>
                  <a:srgbClr val="F5F4EF"/>
                </a:solidFill>
                <a:latin typeface="Aptos"/>
                <a:ea typeface="Aptos"/>
                <a:cs typeface="Aptos"/>
              </a:rPr>
              <a:t>What deserves the time</a:t>
            </a:r>
          </a:p>
          <a:p xmlns:a="http://schemas.openxmlformats.org/drawingml/2006/main">
            <a:pPr>
              <a:defRPr sz="4875" b="1">
                <a:solidFill>
                  <a:srgbClr val="F5F4EF"/>
                </a:solidFill>
                <a:latin typeface="Aptos"/>
                <a:ea typeface="Aptos"/>
                <a:cs typeface="Aptos"/>
              </a:defRPr>
            </a:pPr>
            <a:r>
              <a:rPr sz="4875" b="1">
                <a:solidFill>
                  <a:srgbClr val="F5F4EF"/>
                </a:solidFill>
                <a:latin typeface="Aptos"/>
                <a:ea typeface="Aptos"/>
                <a:cs typeface="Aptos"/>
              </a:rPr>
              <a:t>that actually exists?</a:t>
            </a:r>
          </a:p>
        </p:txBody>
      </p:sp>
      <p:sp>
        <p:nvSpPr>
          <p:cNvPr id="4" name="">
            <a:extLst xmlns:a="http://schemas.openxmlformats.org/drawingml/2006/main">
              <a:ext uri="{FF2B5EF4-FFF2-40B4-BE49-F238E27FC236}">
                <a16:creationId xmlns:a16="http://schemas.microsoft.com/office/drawing/2014/main" id="{045D9A1D-1F2E-4DF9-923C-DF85001CE42A}"/>
              </a:ext>
            </a:extLst>
          </p:cNvPr>
          <p:cNvSpPr>
            <a:spLocks xmlns:a="http://schemas.openxmlformats.org/drawingml/2006/main" noGrp="1"/>
          </p:cNvSpPr>
          <p:nvPr/>
        </p:nvSpPr>
        <p:spPr>
          <a:xfrm xmlns:a="http://schemas.openxmlformats.org/drawingml/2006/main">
            <a:off x="609600" y="50482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4CAD3"/>
                </a:solidFill>
                <a:latin typeface="Aptos"/>
                <a:ea typeface="Aptos"/>
                <a:cs typeface="Aptos"/>
              </a:defRPr>
            </a:pPr>
            <a:r>
              <a:rPr sz="2100" b="0">
                <a:solidFill>
                  <a:srgbClr val="B4CAD3"/>
                </a:solidFill>
                <a:latin typeface="Aptos"/>
                <a:ea typeface="Aptos"/>
                <a:cs typeface="Aptos"/>
              </a:rPr>
              <a:t>MAE 494/598  ·  Project 1</a:t>
            </a:r>
          </a:p>
        </p:txBody>
      </p:sp>
    </p:spTree>
    <p:extLst>
      <p:ext uri="{BB962C8B-B14F-4D97-AF65-F5344CB8AC3E}">
        <p14:creationId xmlns:p14="http://schemas.microsoft.com/office/powerpoint/2010/main" val="717190629"/>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4AD81B-CC2B-484A-8CE5-6DD6365702AA}"/>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D3B"/>
                </a:solidFill>
                <a:latin typeface="Aptos"/>
                <a:ea typeface="Aptos"/>
                <a:cs typeface="Aptos"/>
              </a:defRPr>
            </a:pPr>
            <a:r>
              <a:rPr sz="3450" b="1">
                <a:solidFill>
                  <a:srgbClr val="152D3B"/>
                </a:solidFill>
                <a:latin typeface="Aptos"/>
                <a:ea typeface="Aptos"/>
                <a:cs typeface="Aptos"/>
              </a:rPr>
              <a:t>A week with more work than time</a:t>
            </a:r>
          </a:p>
        </p:txBody>
      </p:sp>
      <p:sp>
        <p:nvSpPr>
          <p:cNvPr id="2" name="">
            <a:extLst xmlns:a="http://schemas.openxmlformats.org/drawingml/2006/main">
              <a:ext uri="{FF2B5EF4-FFF2-40B4-BE49-F238E27FC236}">
                <a16:creationId xmlns:a16="http://schemas.microsoft.com/office/drawing/2014/main" id="{63013EFA-18B4-4912-8AB6-A7CD35A0E09D}"/>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C78"/>
                </a:solidFill>
                <a:latin typeface="Aptos"/>
                <a:ea typeface="Aptos"/>
                <a:cs typeface="Aptos"/>
              </a:defRPr>
            </a:pPr>
            <a:r>
              <a:rPr sz="1350" b="0">
                <a:solidFill>
                  <a:srgbClr val="566C78"/>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7E47F913-2DC9-4343-8EEE-57AB3F6C45FE}"/>
              </a:ext>
            </a:extLst>
          </p:cNvPr>
          <p:cNvSpPr>
            <a:spLocks xmlns:a="http://schemas.openxmlformats.org/drawingml/2006/main" noGrp="1"/>
          </p:cNvSpPr>
          <p:nvPr/>
        </p:nvSpPr>
        <p:spPr>
          <a:xfrm xmlns:a="http://schemas.openxmlformats.org/drawingml/2006/main">
            <a:off x="609600" y="1809750"/>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400" b="1">
                <a:solidFill>
                  <a:srgbClr val="152D3B"/>
                </a:solidFill>
                <a:latin typeface="Aptos"/>
                <a:ea typeface="Aptos"/>
                <a:cs typeface="Aptos"/>
              </a:defRPr>
            </a:pPr>
            <a:r>
              <a:rPr sz="8400" b="1">
                <a:solidFill>
                  <a:srgbClr val="152D3B"/>
                </a:solidFill>
                <a:latin typeface="Aptos"/>
                <a:ea typeface="Aptos"/>
                <a:cs typeface="Aptos"/>
              </a:rPr>
              <a:t>22 h</a:t>
            </a:r>
          </a:p>
        </p:txBody>
      </p:sp>
      <p:sp>
        <p:nvSpPr>
          <p:cNvPr id="4" name="">
            <a:extLst xmlns:a="http://schemas.openxmlformats.org/drawingml/2006/main">
              <a:ext uri="{FF2B5EF4-FFF2-40B4-BE49-F238E27FC236}">
                <a16:creationId xmlns:a16="http://schemas.microsoft.com/office/drawing/2014/main" id="{1F3A4E75-2CB2-48BD-B5D3-809D8CE5465D}"/>
              </a:ext>
            </a:extLst>
          </p:cNvPr>
          <p:cNvSpPr>
            <a:spLocks xmlns:a="http://schemas.openxmlformats.org/drawingml/2006/main" noGrp="1"/>
          </p:cNvSpPr>
          <p:nvPr/>
        </p:nvSpPr>
        <p:spPr>
          <a:xfrm xmlns:a="http://schemas.openxmlformats.org/drawingml/2006/main">
            <a:off x="666750" y="32099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66C78"/>
                </a:solidFill>
                <a:latin typeface="Aptos"/>
                <a:ea typeface="Aptos"/>
                <a:cs typeface="Aptos"/>
              </a:defRPr>
            </a:pPr>
            <a:r>
              <a:rPr sz="2325" b="0">
                <a:solidFill>
                  <a:srgbClr val="566C78"/>
                </a:solidFill>
                <a:latin typeface="Aptos"/>
                <a:ea typeface="Aptos"/>
                <a:cs typeface="Aptos"/>
              </a:rPr>
              <a:t>required for all targets</a:t>
            </a:r>
          </a:p>
        </p:txBody>
      </p:sp>
      <p:sp>
        <p:nvSpPr>
          <p:cNvPr id="5" name="">
            <a:extLst xmlns:a="http://schemas.openxmlformats.org/drawingml/2006/main">
              <a:ext uri="{FF2B5EF4-FFF2-40B4-BE49-F238E27FC236}">
                <a16:creationId xmlns:a16="http://schemas.microsoft.com/office/drawing/2014/main" id="{0D04C86A-9BC8-4C23-8FE8-F6C2FF85506B}"/>
              </a:ext>
            </a:extLst>
          </p:cNvPr>
          <p:cNvSpPr>
            <a:spLocks xmlns:a="http://schemas.openxmlformats.org/drawingml/2006/main" noGrp="1"/>
          </p:cNvSpPr>
          <p:nvPr/>
        </p:nvSpPr>
        <p:spPr>
          <a:xfrm xmlns:a="http://schemas.openxmlformats.org/drawingml/2006/main">
            <a:off x="6667500" y="1809750"/>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400" b="1">
                <a:solidFill>
                  <a:srgbClr val="087F83"/>
                </a:solidFill>
                <a:latin typeface="Aptos"/>
                <a:ea typeface="Aptos"/>
                <a:cs typeface="Aptos"/>
              </a:defRPr>
            </a:pPr>
            <a:r>
              <a:rPr sz="8400" b="1">
                <a:solidFill>
                  <a:srgbClr val="087F83"/>
                </a:solidFill>
                <a:latin typeface="Aptos"/>
                <a:ea typeface="Aptos"/>
                <a:cs typeface="Aptos"/>
              </a:rPr>
              <a:t>14 h</a:t>
            </a:r>
          </a:p>
        </p:txBody>
      </p:sp>
      <p:sp>
        <p:nvSpPr>
          <p:cNvPr id="6" name="">
            <a:extLst xmlns:a="http://schemas.openxmlformats.org/drawingml/2006/main">
              <a:ext uri="{FF2B5EF4-FFF2-40B4-BE49-F238E27FC236}">
                <a16:creationId xmlns:a16="http://schemas.microsoft.com/office/drawing/2014/main" id="{1DDDE485-ECF6-46CC-BE1F-A98D163D1B1E}"/>
              </a:ext>
            </a:extLst>
          </p:cNvPr>
          <p:cNvSpPr>
            <a:spLocks xmlns:a="http://schemas.openxmlformats.org/drawingml/2006/main" noGrp="1"/>
          </p:cNvSpPr>
          <p:nvPr/>
        </p:nvSpPr>
        <p:spPr>
          <a:xfrm xmlns:a="http://schemas.openxmlformats.org/drawingml/2006/main">
            <a:off x="6724650" y="320992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66C78"/>
                </a:solidFill>
                <a:latin typeface="Aptos"/>
                <a:ea typeface="Aptos"/>
                <a:cs typeface="Aptos"/>
              </a:defRPr>
            </a:pPr>
            <a:r>
              <a:rPr sz="2325" b="0">
                <a:solidFill>
                  <a:srgbClr val="566C78"/>
                </a:solidFill>
                <a:latin typeface="Aptos"/>
                <a:ea typeface="Aptos"/>
                <a:cs typeface="Aptos"/>
              </a:rPr>
              <a:t>available this week</a:t>
            </a:r>
          </a:p>
        </p:txBody>
      </p:sp>
      <p:sp>
        <p:nvSpPr>
          <p:cNvPr id="7" name="">
            <a:extLst xmlns:a="http://schemas.openxmlformats.org/drawingml/2006/main">
              <a:ext uri="{FF2B5EF4-FFF2-40B4-BE49-F238E27FC236}">
                <a16:creationId xmlns:a16="http://schemas.microsoft.com/office/drawing/2014/main" id="{D8DE0BD4-D2E3-49AC-B7D8-7F5565706BF7}"/>
              </a:ext>
            </a:extLst>
          </p:cNvPr>
          <p:cNvSpPr>
            <a:spLocks xmlns:a="http://schemas.openxmlformats.org/drawingml/2006/main" noGrp="1"/>
          </p:cNvSpPr>
          <p:nvPr/>
        </p:nvSpPr>
        <p:spPr>
          <a:xfrm xmlns:a="http://schemas.openxmlformats.org/drawingml/2006/main">
            <a:off x="609600" y="46863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2D3B"/>
                </a:solidFill>
                <a:latin typeface="Aptos"/>
                <a:ea typeface="Aptos"/>
                <a:cs typeface="Aptos"/>
              </a:defRPr>
            </a:pPr>
            <a:r>
              <a:rPr sz="3225" b="1">
                <a:solidFill>
                  <a:srgbClr val="152D3B"/>
                </a:solidFill>
                <a:latin typeface="Aptos"/>
                <a:ea typeface="Aptos"/>
                <a:cs typeface="Aptos"/>
              </a:rPr>
              <a:t>8 hours of targets cannot fit</a:t>
            </a:r>
          </a:p>
        </p:txBody>
      </p:sp>
      <p:sp>
        <p:nvSpPr>
          <p:cNvPr id="8" name="">
            <a:extLst xmlns:a="http://schemas.openxmlformats.org/drawingml/2006/main">
              <a:ext uri="{FF2B5EF4-FFF2-40B4-BE49-F238E27FC236}">
                <a16:creationId xmlns:a16="http://schemas.microsoft.com/office/drawing/2014/main" id="{F5818AD2-F66A-4D19-80F1-583AF4BAC296}"/>
              </a:ext>
            </a:extLst>
          </p:cNvPr>
          <p:cNvSpPr>
            <a:spLocks xmlns:a="http://schemas.openxmlformats.org/drawingml/2006/main" noGrp="1"/>
          </p:cNvSpPr>
          <p:nvPr/>
        </p:nvSpPr>
        <p:spPr>
          <a:xfrm xmlns:a="http://schemas.openxmlformats.org/drawingml/2006/main">
            <a:off x="609600" y="55626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66C78"/>
                </a:solidFill>
                <a:latin typeface="Aptos"/>
                <a:ea typeface="Aptos"/>
                <a:cs typeface="Aptos"/>
              </a:defRPr>
            </a:pPr>
            <a:r>
              <a:rPr sz="1950" b="0">
                <a:solidFill>
                  <a:srgbClr val="566C78"/>
                </a:solidFill>
                <a:latin typeface="Aptos"/>
                <a:ea typeface="Aptos"/>
                <a:cs typeface="Aptos"/>
              </a:rPr>
              <a:t>Synthetic week. Deadlines remain hard.</a:t>
            </a:r>
          </a:p>
        </p:txBody>
      </p:sp>
    </p:spTree>
    <p:extLst>
      <p:ext uri="{BB962C8B-B14F-4D97-AF65-F5344CB8AC3E}">
        <p14:creationId xmlns:p14="http://schemas.microsoft.com/office/powerpoint/2010/main" val="394598173"/>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E57E43-7CC8-49B9-9246-14EA1D053354}"/>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D3B"/>
                </a:solidFill>
                <a:latin typeface="Aptos"/>
                <a:ea typeface="Aptos"/>
                <a:cs typeface="Aptos"/>
              </a:defRPr>
            </a:pPr>
            <a:r>
              <a:rPr sz="3450" b="1">
                <a:solidFill>
                  <a:srgbClr val="152D3B"/>
                </a:solidFill>
                <a:latin typeface="Aptos"/>
                <a:ea typeface="Aptos"/>
                <a:cs typeface="Aptos"/>
              </a:rPr>
              <a:t>Two kinds of useful work</a:t>
            </a:r>
          </a:p>
        </p:txBody>
      </p:sp>
      <p:sp>
        <p:nvSpPr>
          <p:cNvPr id="2" name="">
            <a:extLst xmlns:a="http://schemas.openxmlformats.org/drawingml/2006/main">
              <a:ext uri="{FF2B5EF4-FFF2-40B4-BE49-F238E27FC236}">
                <a16:creationId xmlns:a16="http://schemas.microsoft.com/office/drawing/2014/main" id="{83A742D7-F038-431F-B13E-DD6102246096}"/>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C78"/>
                </a:solidFill>
                <a:latin typeface="Aptos"/>
                <a:ea typeface="Aptos"/>
                <a:cs typeface="Aptos"/>
              </a:defRPr>
            </a:pPr>
            <a:r>
              <a:rPr sz="1350" b="0">
                <a:solidFill>
                  <a:srgbClr val="566C78"/>
                </a:solidFill>
                <a:latin typeface="Aptos"/>
                <a:ea typeface="Aptos"/>
                <a:cs typeface="Aptos"/>
              </a:rPr>
              <a:t>03</a:t>
            </a:r>
          </a:p>
        </p:txBody>
      </p:sp>
      <p:graphicFrame>
        <p:nvGraphicFramePr>
          <p:cNvPr id="7" name=""/>
          <p:cNvGraphicFramePr/>
          <p:nvPr/>
        </p:nvGraphicFramePr>
        <p:xfrm>
          <a:off xmlns:a="http://schemas.openxmlformats.org/drawingml/2006/main" x="609600" y="1809750"/>
          <a:ext xmlns:a="http://schemas.openxmlformats.org/drawingml/2006/main" cx="10972800" cy="2190750"/>
        </p:xfrm>
        <a:graphic xmlns:a="http://schemas.openxmlformats.org/drawingml/2006/main">
          <a:graphicData uri="http://schemas.openxmlformats.org/drawingml/2006/table">
            <a:tbl>
              <a:tblPr/>
              <a:tblGrid>
                <a:gridCol w="5486400"/>
                <a:gridCol w="5486400"/>
              </a:tblGrid>
              <a:tr h="730250">
                <a:tc>
                  <a:txBody>
                    <a:bodyPr/>
                    <a:lstStyle/>
                    <a:p>
                      <a:r>
                        <a:rPr sz="2025" b="1">
                          <a:solidFill>
                            <a:srgbClr val="F5F4EF"/>
                          </a:solidFill>
                          <a:latin typeface="Aptos"/>
                          <a:ea typeface="Aptos"/>
                          <a:cs typeface="Aptos"/>
                        </a:rPr>
                        <a:t>Work type</a:t>
                      </a:r>
                    </a:p>
                  </a:txBody>
                  <a:tcPr marL="91440" marR="91440" marT="45720" marB="45720">
                    <a:solidFill>
                      <a:srgbClr val="102331"/>
                    </a:solidFill>
                  </a:tcPr>
                </a:tc>
                <a:tc>
                  <a:txBody>
                    <a:bodyPr/>
                    <a:lstStyle/>
                    <a:p>
                      <a:r>
                        <a:rPr sz="2025" b="1">
                          <a:solidFill>
                            <a:srgbClr val="F5F4EF"/>
                          </a:solidFill>
                          <a:latin typeface="Aptos"/>
                          <a:ea typeface="Aptos"/>
                          <a:cs typeface="Aptos"/>
                        </a:rPr>
                        <a:t>What earns modeled value</a:t>
                      </a:r>
                    </a:p>
                  </a:txBody>
                  <a:tcPr marL="91440" marR="91440" marT="45720" marB="45720">
                    <a:solidFill>
                      <a:srgbClr val="102331"/>
                    </a:solidFill>
                  </a:tcPr>
                </a:tc>
              </a:tr>
              <a:tr h="730250">
                <a:tc>
                  <a:txBody>
                    <a:bodyPr/>
                    <a:lstStyle/>
                    <a:p>
                      <a:r>
                        <a:rPr sz="2025" b="0">
                          <a:solidFill>
                            <a:srgbClr val="152D3B"/>
                          </a:solidFill>
                          <a:latin typeface="Aptos"/>
                          <a:ea typeface="Aptos"/>
                          <a:cs typeface="Aptos"/>
                        </a:rPr>
                        <a:t>Assignment</a:t>
                      </a:r>
                    </a:p>
                  </a:txBody>
                  <a:tcPr marL="91440" marR="91440" marT="45720" marB="45720">
                    <a:solidFill>
                      <a:srgbClr val="FFFFFF"/>
                    </a:solidFill>
                  </a:tcPr>
                </a:tc>
                <a:tc>
                  <a:txBody>
                    <a:bodyPr/>
                    <a:lstStyle/>
                    <a:p>
                      <a:r>
                        <a:rPr sz="2025" b="0">
                          <a:solidFill>
                            <a:srgbClr val="152D3B"/>
                          </a:solidFill>
                          <a:latin typeface="Aptos"/>
                          <a:ea typeface="Aptos"/>
                          <a:cs typeface="Aptos"/>
                        </a:rPr>
                        <a:t>Full completion before the cutoff</a:t>
                      </a:r>
                    </a:p>
                  </a:txBody>
                  <a:tcPr marL="91440" marR="91440" marT="45720" marB="45720">
                    <a:solidFill>
                      <a:srgbClr val="FFFFFF"/>
                    </a:solidFill>
                  </a:tcPr>
                </a:tc>
              </a:tr>
              <a:tr h="730250">
                <a:tc>
                  <a:txBody>
                    <a:bodyPr/>
                    <a:lstStyle/>
                    <a:p>
                      <a:r>
                        <a:rPr sz="2025" b="0">
                          <a:solidFill>
                            <a:srgbClr val="152D3B"/>
                          </a:solidFill>
                          <a:latin typeface="Aptos"/>
                          <a:ea typeface="Aptos"/>
                          <a:cs typeface="Aptos"/>
                        </a:rPr>
                        <a:t>Exam preparation</a:t>
                      </a:r>
                    </a:p>
                  </a:txBody>
                  <a:tcPr marL="91440" marR="91440" marT="45720" marB="45720">
                    <a:solidFill>
                      <a:srgbClr val="E9EEEA"/>
                    </a:solidFill>
                  </a:tcPr>
                </a:tc>
                <a:tc>
                  <a:txBody>
                    <a:bodyPr/>
                    <a:lstStyle/>
                    <a:p>
                      <a:r>
                        <a:rPr sz="2025" b="0">
                          <a:solidFill>
                            <a:srgbClr val="152D3B"/>
                          </a:solidFill>
                          <a:latin typeface="Aptos"/>
                          <a:ea typeface="Aptos"/>
                          <a:cs typeface="Aptos"/>
                        </a:rPr>
                        <a:t>Each slot, up to the preparation target</a:t>
                      </a:r>
                    </a:p>
                  </a:txBody>
                  <a:tcPr marL="91440" marR="91440" marT="45720" marB="45720">
                    <a:solidFill>
                      <a:srgbClr val="E9EEEA"/>
                    </a:solidFill>
                  </a:tcPr>
                </a:tc>
              </a:tr>
            </a:tbl>
          </a:graphicData>
        </a:graphic>
      </p:graphicFrame>
      <p:sp>
        <p:nvSpPr>
          <p:cNvPr id="4" name="">
            <a:extLst xmlns:a="http://schemas.openxmlformats.org/drawingml/2006/main">
              <a:ext uri="{FF2B5EF4-FFF2-40B4-BE49-F238E27FC236}">
                <a16:creationId xmlns:a16="http://schemas.microsoft.com/office/drawing/2014/main" id="{CA2C0A48-3A06-40B2-A1C1-DCFBCE90B73A}"/>
              </a:ext>
            </a:extLst>
          </p:cNvPr>
          <p:cNvSpPr>
            <a:spLocks xmlns:a="http://schemas.openxmlformats.org/drawingml/2006/main" noGrp="1"/>
          </p:cNvSpPr>
          <p:nvPr/>
        </p:nvSpPr>
        <p:spPr>
          <a:xfrm xmlns:a="http://schemas.openxmlformats.org/drawingml/2006/main">
            <a:off x="609600" y="46482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52D3B"/>
                </a:solidFill>
                <a:latin typeface="Aptos"/>
                <a:ea typeface="Aptos"/>
                <a:cs typeface="Aptos"/>
              </a:defRPr>
            </a:pPr>
            <a:r>
              <a:rPr sz="2925" b="1">
                <a:solidFill>
                  <a:srgbClr val="152D3B"/>
                </a:solidFill>
                <a:latin typeface="Aptos"/>
                <a:ea typeface="Aptos"/>
                <a:cs typeface="Aptos"/>
              </a:rPr>
              <a:t>A missed exam cutoff cannot become</a:t>
            </a:r>
          </a:p>
          <a:p xmlns:a="http://schemas.openxmlformats.org/drawingml/2006/main">
            <a:pPr>
              <a:defRPr sz="2925" b="1">
                <a:solidFill>
                  <a:srgbClr val="152D3B"/>
                </a:solidFill>
                <a:latin typeface="Aptos"/>
                <a:ea typeface="Aptos"/>
                <a:cs typeface="Aptos"/>
              </a:defRPr>
            </a:pPr>
            <a:r>
              <a:rPr sz="2925" b="1">
                <a:solidFill>
                  <a:srgbClr val="152D3B"/>
                </a:solidFill>
                <a:latin typeface="Aptos"/>
                <a:ea typeface="Aptos"/>
                <a:cs typeface="Aptos"/>
              </a:rPr>
              <a:t>a useful study session afterward.</a:t>
            </a:r>
          </a:p>
        </p:txBody>
      </p:sp>
    </p:spTree>
    <p:extLst>
      <p:ext uri="{BB962C8B-B14F-4D97-AF65-F5344CB8AC3E}">
        <p14:creationId xmlns:p14="http://schemas.microsoft.com/office/powerpoint/2010/main" val="501299009"/>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50D2F8-F3AC-4109-8DF7-8B94ED00D875}"/>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D3B"/>
                </a:solidFill>
                <a:latin typeface="Aptos"/>
                <a:ea typeface="Aptos"/>
                <a:cs typeface="Aptos"/>
              </a:defRPr>
            </a:pPr>
            <a:r>
              <a:rPr sz="3450" b="1">
                <a:solidFill>
                  <a:srgbClr val="152D3B"/>
                </a:solidFill>
                <a:latin typeface="Aptos"/>
                <a:ea typeface="Aptos"/>
                <a:cs typeface="Aptos"/>
              </a:rPr>
              <a:t>The decision is a zero-one calendar</a:t>
            </a:r>
          </a:p>
        </p:txBody>
      </p:sp>
      <p:sp>
        <p:nvSpPr>
          <p:cNvPr id="2" name="">
            <a:extLst xmlns:a="http://schemas.openxmlformats.org/drawingml/2006/main">
              <a:ext uri="{FF2B5EF4-FFF2-40B4-BE49-F238E27FC236}">
                <a16:creationId xmlns:a16="http://schemas.microsoft.com/office/drawing/2014/main" id="{271EA59C-1F5A-4A1A-80EB-F661679ABB25}"/>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C78"/>
                </a:solidFill>
                <a:latin typeface="Aptos"/>
                <a:ea typeface="Aptos"/>
                <a:cs typeface="Aptos"/>
              </a:defRPr>
            </a:pPr>
            <a:r>
              <a:rPr sz="1350" b="0">
                <a:solidFill>
                  <a:srgbClr val="566C78"/>
                </a:solidFill>
                <a:latin typeface="Aptos"/>
                <a:ea typeface="Aptos"/>
                <a:cs typeface="Aptos"/>
              </a:rPr>
              <a:t>04</a:t>
            </a:r>
          </a:p>
        </p:txBody>
      </p:sp>
      <p:graphicFrame>
        <p:nvGraphicFramePr>
          <p:cNvPr id="9" name=""/>
          <p:cNvGraphicFramePr/>
          <p:nvPr/>
        </p:nvGraphicFramePr>
        <p:xfrm>
          <a:off xmlns:a="http://schemas.openxmlformats.org/drawingml/2006/main" x="609600" y="1762125"/>
          <a:ext xmlns:a="http://schemas.openxmlformats.org/drawingml/2006/main" cx="8096250" cy="2190750"/>
        </p:xfrm>
        <a:graphic xmlns:a="http://schemas.openxmlformats.org/drawingml/2006/main">
          <a:graphicData uri="http://schemas.openxmlformats.org/drawingml/2006/table">
            <a:tbl>
              <a:tblPr/>
              <a:tblGrid>
                <a:gridCol w="2024063"/>
                <a:gridCol w="2024063"/>
                <a:gridCol w="2024063"/>
                <a:gridCol w="2024063"/>
              </a:tblGrid>
              <a:tr h="730250">
                <a:tc>
                  <a:txBody>
                    <a:bodyPr/>
                    <a:lstStyle/>
                    <a:p>
                      <a:r>
                        <a:rPr sz="2025" b="1">
                          <a:solidFill>
                            <a:srgbClr val="F5F4EF"/>
                          </a:solidFill>
                          <a:latin typeface="Aptos"/>
                          <a:ea typeface="Aptos"/>
                          <a:cs typeface="Aptos"/>
                        </a:rPr>
                        <a:t>Task</a:t>
                      </a:r>
                    </a:p>
                  </a:txBody>
                  <a:tcPr marL="91440" marR="91440" marT="45720" marB="45720">
                    <a:solidFill>
                      <a:srgbClr val="102331"/>
                    </a:solidFill>
                  </a:tcPr>
                </a:tc>
                <a:tc>
                  <a:txBody>
                    <a:bodyPr/>
                    <a:lstStyle/>
                    <a:p>
                      <a:r>
                        <a:rPr sz="2025" b="1">
                          <a:solidFill>
                            <a:srgbClr val="F5F4EF"/>
                          </a:solidFill>
                          <a:latin typeface="Aptos"/>
                          <a:ea typeface="Aptos"/>
                          <a:cs typeface="Aptos"/>
                        </a:rPr>
                        <a:t>Slot 1</a:t>
                      </a:r>
                    </a:p>
                  </a:txBody>
                  <a:tcPr marL="91440" marR="91440" marT="45720" marB="45720">
                    <a:solidFill>
                      <a:srgbClr val="102331"/>
                    </a:solidFill>
                  </a:tcPr>
                </a:tc>
                <a:tc>
                  <a:txBody>
                    <a:bodyPr/>
                    <a:lstStyle/>
                    <a:p>
                      <a:r>
                        <a:rPr sz="2025" b="1">
                          <a:solidFill>
                            <a:srgbClr val="F5F4EF"/>
                          </a:solidFill>
                          <a:latin typeface="Aptos"/>
                          <a:ea typeface="Aptos"/>
                          <a:cs typeface="Aptos"/>
                        </a:rPr>
                        <a:t>Slot 2</a:t>
                      </a:r>
                    </a:p>
                  </a:txBody>
                  <a:tcPr marL="91440" marR="91440" marT="45720" marB="45720">
                    <a:solidFill>
                      <a:srgbClr val="102331"/>
                    </a:solidFill>
                  </a:tcPr>
                </a:tc>
                <a:tc>
                  <a:txBody>
                    <a:bodyPr/>
                    <a:lstStyle/>
                    <a:p>
                      <a:r>
                        <a:rPr sz="2025" b="1">
                          <a:solidFill>
                            <a:srgbClr val="F5F4EF"/>
                          </a:solidFill>
                          <a:latin typeface="Aptos"/>
                          <a:ea typeface="Aptos"/>
                          <a:cs typeface="Aptos"/>
                        </a:rPr>
                        <a:t>Slot 3</a:t>
                      </a:r>
                    </a:p>
                  </a:txBody>
                  <a:tcPr marL="91440" marR="91440" marT="45720" marB="45720">
                    <a:solidFill>
                      <a:srgbClr val="102331"/>
                    </a:solidFill>
                  </a:tcPr>
                </a:tc>
              </a:tr>
              <a:tr h="730250">
                <a:tc>
                  <a:txBody>
                    <a:bodyPr/>
                    <a:lstStyle/>
                    <a:p>
                      <a:r>
                        <a:rPr sz="2025" b="0">
                          <a:solidFill>
                            <a:srgbClr val="152D3B"/>
                          </a:solidFill>
                          <a:latin typeface="Aptos"/>
                          <a:ea typeface="Aptos"/>
                          <a:cs typeface="Aptos"/>
                        </a:rPr>
                        <a:t>A</a:t>
                      </a:r>
                    </a:p>
                  </a:txBody>
                  <a:tcPr marL="91440" marR="91440" marT="45720" marB="45720">
                    <a:solidFill>
                      <a:srgbClr val="FFFFFF"/>
                    </a:solidFill>
                  </a:tcPr>
                </a:tc>
                <a:tc>
                  <a:txBody>
                    <a:bodyPr/>
                    <a:lstStyle/>
                    <a:p>
                      <a:r>
                        <a:rPr sz="2025" b="0">
                          <a:solidFill>
                            <a:srgbClr val="152D3B"/>
                          </a:solidFill>
                          <a:latin typeface="Aptos"/>
                          <a:ea typeface="Aptos"/>
                          <a:cs typeface="Aptos"/>
                        </a:rPr>
                        <a:t>1</a:t>
                      </a:r>
                    </a:p>
                  </a:txBody>
                  <a:tcPr marL="91440" marR="91440" marT="45720" marB="45720">
                    <a:solidFill>
                      <a:srgbClr val="FFFFFF"/>
                    </a:solidFill>
                  </a:tcPr>
                </a:tc>
                <a:tc>
                  <a:txBody>
                    <a:bodyPr/>
                    <a:lstStyle/>
                    <a:p>
                      <a:r>
                        <a:rPr sz="2025" b="0">
                          <a:solidFill>
                            <a:srgbClr val="152D3B"/>
                          </a:solidFill>
                          <a:latin typeface="Aptos"/>
                          <a:ea typeface="Aptos"/>
                          <a:cs typeface="Aptos"/>
                        </a:rPr>
                        <a:t>1</a:t>
                      </a:r>
                    </a:p>
                  </a:txBody>
                  <a:tcPr marL="91440" marR="91440" marT="45720" marB="45720">
                    <a:solidFill>
                      <a:srgbClr val="FFFFFF"/>
                    </a:solidFill>
                  </a:tcPr>
                </a:tc>
                <a:tc>
                  <a:txBody>
                    <a:bodyPr/>
                    <a:lstStyle/>
                    <a:p>
                      <a:r>
                        <a:rPr sz="2025" b="0">
                          <a:solidFill>
                            <a:srgbClr val="152D3B"/>
                          </a:solidFill>
                          <a:latin typeface="Aptos"/>
                          <a:ea typeface="Aptos"/>
                          <a:cs typeface="Aptos"/>
                        </a:rPr>
                        <a:t>0</a:t>
                      </a:r>
                    </a:p>
                  </a:txBody>
                  <a:tcPr marL="91440" marR="91440" marT="45720" marB="45720">
                    <a:solidFill>
                      <a:srgbClr val="FFFFFF"/>
                    </a:solidFill>
                  </a:tcPr>
                </a:tc>
              </a:tr>
              <a:tr h="730250">
                <a:tc>
                  <a:txBody>
                    <a:bodyPr/>
                    <a:lstStyle/>
                    <a:p>
                      <a:r>
                        <a:rPr sz="2025" b="0">
                          <a:solidFill>
                            <a:srgbClr val="152D3B"/>
                          </a:solidFill>
                          <a:latin typeface="Aptos"/>
                          <a:ea typeface="Aptos"/>
                          <a:cs typeface="Aptos"/>
                        </a:rPr>
                        <a:t>B</a:t>
                      </a:r>
                    </a:p>
                  </a:txBody>
                  <a:tcPr marL="91440" marR="91440" marT="45720" marB="45720">
                    <a:solidFill>
                      <a:srgbClr val="E9EEEA"/>
                    </a:solidFill>
                  </a:tcPr>
                </a:tc>
                <a:tc>
                  <a:txBody>
                    <a:bodyPr/>
                    <a:lstStyle/>
                    <a:p>
                      <a:r>
                        <a:rPr sz="2025" b="0">
                          <a:solidFill>
                            <a:srgbClr val="152D3B"/>
                          </a:solidFill>
                          <a:latin typeface="Aptos"/>
                          <a:ea typeface="Aptos"/>
                          <a:cs typeface="Aptos"/>
                        </a:rPr>
                        <a:t>0</a:t>
                      </a:r>
                    </a:p>
                  </a:txBody>
                  <a:tcPr marL="91440" marR="91440" marT="45720" marB="45720">
                    <a:solidFill>
                      <a:srgbClr val="E9EEEA"/>
                    </a:solidFill>
                  </a:tcPr>
                </a:tc>
                <a:tc>
                  <a:txBody>
                    <a:bodyPr/>
                    <a:lstStyle/>
                    <a:p>
                      <a:r>
                        <a:rPr sz="2025" b="0">
                          <a:solidFill>
                            <a:srgbClr val="152D3B"/>
                          </a:solidFill>
                          <a:latin typeface="Aptos"/>
                          <a:ea typeface="Aptos"/>
                          <a:cs typeface="Aptos"/>
                        </a:rPr>
                        <a:t>0</a:t>
                      </a:r>
                    </a:p>
                  </a:txBody>
                  <a:tcPr marL="91440" marR="91440" marT="45720" marB="45720">
                    <a:solidFill>
                      <a:srgbClr val="E9EEEA"/>
                    </a:solidFill>
                  </a:tcPr>
                </a:tc>
                <a:tc>
                  <a:txBody>
                    <a:bodyPr/>
                    <a:lstStyle/>
                    <a:p>
                      <a:r>
                        <a:rPr sz="2025" b="0">
                          <a:solidFill>
                            <a:srgbClr val="152D3B"/>
                          </a:solidFill>
                          <a:latin typeface="Aptos"/>
                          <a:ea typeface="Aptos"/>
                          <a:cs typeface="Aptos"/>
                        </a:rPr>
                        <a:t>1</a:t>
                      </a:r>
                    </a:p>
                  </a:txBody>
                  <a:tcPr marL="91440" marR="91440" marT="45720" marB="45720">
                    <a:solidFill>
                      <a:srgbClr val="E9EEEA"/>
                    </a:solidFill>
                  </a:tcPr>
                </a:tc>
              </a:tr>
            </a:tbl>
          </a:graphicData>
        </a:graphic>
      </p:graphicFrame>
      <p:sp>
        <p:nvSpPr>
          <p:cNvPr id="4" name="">
            <a:extLst xmlns:a="http://schemas.openxmlformats.org/drawingml/2006/main">
              <a:ext uri="{FF2B5EF4-FFF2-40B4-BE49-F238E27FC236}">
                <a16:creationId xmlns:a16="http://schemas.microsoft.com/office/drawing/2014/main" id="{2CB94288-7D9A-4133-B230-504725716302}"/>
              </a:ext>
            </a:extLst>
          </p:cNvPr>
          <p:cNvSpPr>
            <a:spLocks xmlns:a="http://schemas.openxmlformats.org/drawingml/2006/main" noGrp="1"/>
          </p:cNvSpPr>
          <p:nvPr/>
        </p:nvSpPr>
        <p:spPr>
          <a:xfrm xmlns:a="http://schemas.openxmlformats.org/drawingml/2006/main">
            <a:off x="8953500" y="2057400"/>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87F83"/>
                </a:solidFill>
                <a:latin typeface="Aptos"/>
                <a:ea typeface="Aptos"/>
                <a:cs typeface="Aptos"/>
              </a:defRPr>
            </a:pPr>
            <a:r>
              <a:rPr sz="3300" b="1">
                <a:solidFill>
                  <a:srgbClr val="087F83"/>
                </a:solidFill>
                <a:latin typeface="Aptos"/>
                <a:ea typeface="Aptos"/>
                <a:cs typeface="Aptos"/>
              </a:rPr>
              <a:t>xᵢₜ = 1</a:t>
            </a:r>
          </a:p>
        </p:txBody>
      </p:sp>
      <p:sp>
        <p:nvSpPr>
          <p:cNvPr id="5" name="">
            <a:extLst xmlns:a="http://schemas.openxmlformats.org/drawingml/2006/main">
              <a:ext uri="{FF2B5EF4-FFF2-40B4-BE49-F238E27FC236}">
                <a16:creationId xmlns:a16="http://schemas.microsoft.com/office/drawing/2014/main" id="{3E5DF684-6E3A-437F-95EF-DADAC0FD284F}"/>
              </a:ext>
            </a:extLst>
          </p:cNvPr>
          <p:cNvSpPr>
            <a:spLocks xmlns:a="http://schemas.openxmlformats.org/drawingml/2006/main" noGrp="1"/>
          </p:cNvSpPr>
          <p:nvPr/>
        </p:nvSpPr>
        <p:spPr>
          <a:xfrm xmlns:a="http://schemas.openxmlformats.org/drawingml/2006/main">
            <a:off x="8953500" y="2876550"/>
            <a:ext cx="2619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D3B"/>
                </a:solidFill>
                <a:latin typeface="Aptos"/>
                <a:ea typeface="Aptos"/>
                <a:cs typeface="Aptos"/>
              </a:defRPr>
            </a:pPr>
            <a:r>
              <a:rPr sz="2100" b="0">
                <a:solidFill>
                  <a:srgbClr val="152D3B"/>
                </a:solidFill>
                <a:latin typeface="Aptos"/>
                <a:ea typeface="Aptos"/>
                <a:cs typeface="Aptos"/>
              </a:rPr>
              <a:t>Work on task i</a:t>
            </a:r>
          </a:p>
          <a:p xmlns:a="http://schemas.openxmlformats.org/drawingml/2006/main">
            <a:pPr>
              <a:defRPr sz="2100" b="0">
                <a:solidFill>
                  <a:srgbClr val="152D3B"/>
                </a:solidFill>
                <a:latin typeface="Aptos"/>
                <a:ea typeface="Aptos"/>
                <a:cs typeface="Aptos"/>
              </a:defRPr>
            </a:pPr>
            <a:r>
              <a:rPr sz="2100" b="0">
                <a:solidFill>
                  <a:srgbClr val="152D3B"/>
                </a:solidFill>
                <a:latin typeface="Aptos"/>
                <a:ea typeface="Aptos"/>
                <a:cs typeface="Aptos"/>
              </a:rPr>
              <a:t>during slot t</a:t>
            </a:r>
          </a:p>
        </p:txBody>
      </p:sp>
      <p:sp>
        <p:nvSpPr>
          <p:cNvPr id="6" name="">
            <a:extLst xmlns:a="http://schemas.openxmlformats.org/drawingml/2006/main">
              <a:ext uri="{FF2B5EF4-FFF2-40B4-BE49-F238E27FC236}">
                <a16:creationId xmlns:a16="http://schemas.microsoft.com/office/drawing/2014/main" id="{2C2E155F-9AC7-4F9B-BE5D-FEA6196BAB1C}"/>
              </a:ext>
            </a:extLst>
          </p:cNvPr>
          <p:cNvSpPr>
            <a:spLocks xmlns:a="http://schemas.openxmlformats.org/drawingml/2006/main" noGrp="1"/>
          </p:cNvSpPr>
          <p:nvPr/>
        </p:nvSpPr>
        <p:spPr>
          <a:xfrm xmlns:a="http://schemas.openxmlformats.org/drawingml/2006/main">
            <a:off x="609600" y="47053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52D3B"/>
                </a:solidFill>
                <a:latin typeface="Aptos"/>
                <a:ea typeface="Aptos"/>
                <a:cs typeface="Aptos"/>
              </a:defRPr>
            </a:pPr>
            <a:r>
              <a:rPr sz="2775" b="1">
                <a:solidFill>
                  <a:srgbClr val="152D3B"/>
                </a:solidFill>
                <a:latin typeface="Aptos"/>
                <a:ea typeface="Aptos"/>
                <a:cs typeface="Aptos"/>
              </a:rPr>
              <a:t>Rows count effort. Columns prevent double-booking.</a:t>
            </a:r>
          </a:p>
        </p:txBody>
      </p:sp>
    </p:spTree>
    <p:extLst>
      <p:ext uri="{BB962C8B-B14F-4D97-AF65-F5344CB8AC3E}">
        <p14:creationId xmlns:p14="http://schemas.microsoft.com/office/powerpoint/2010/main" val="1164519837"/>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8F5E26-C132-4DE9-8C00-561C47D85417}"/>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D3B"/>
                </a:solidFill>
                <a:latin typeface="Aptos"/>
                <a:ea typeface="Aptos"/>
                <a:cs typeface="Aptos"/>
              </a:defRPr>
            </a:pPr>
            <a:r>
              <a:rPr sz="3450" b="1">
                <a:solidFill>
                  <a:srgbClr val="152D3B"/>
                </a:solidFill>
                <a:latin typeface="Aptos"/>
                <a:ea typeface="Aptos"/>
                <a:cs typeface="Aptos"/>
              </a:rPr>
              <a:t>One score compares legal calendars</a:t>
            </a:r>
          </a:p>
        </p:txBody>
      </p:sp>
      <p:sp>
        <p:nvSpPr>
          <p:cNvPr id="2" name="">
            <a:extLst xmlns:a="http://schemas.openxmlformats.org/drawingml/2006/main">
              <a:ext uri="{FF2B5EF4-FFF2-40B4-BE49-F238E27FC236}">
                <a16:creationId xmlns:a16="http://schemas.microsoft.com/office/drawing/2014/main" id="{62CE95FB-8A99-4B36-9B77-6FC93BF3E4AD}"/>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C78"/>
                </a:solidFill>
                <a:latin typeface="Aptos"/>
                <a:ea typeface="Aptos"/>
                <a:cs typeface="Aptos"/>
              </a:defRPr>
            </a:pPr>
            <a:r>
              <a:rPr sz="1350" b="0">
                <a:solidFill>
                  <a:srgbClr val="566C78"/>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50C0B51B-4251-4E82-8E81-9AAF70498279}"/>
              </a:ext>
            </a:extLst>
          </p:cNvPr>
          <p:cNvSpPr>
            <a:spLocks xmlns:a="http://schemas.openxmlformats.org/drawingml/2006/main" noGrp="1"/>
          </p:cNvSpPr>
          <p:nvPr/>
        </p:nvSpPr>
        <p:spPr>
          <a:xfrm xmlns:a="http://schemas.openxmlformats.org/drawingml/2006/main">
            <a:off x="609600" y="1809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7F83"/>
                </a:solidFill>
                <a:latin typeface="Aptos"/>
                <a:ea typeface="Aptos"/>
                <a:cs typeface="Aptos"/>
              </a:defRPr>
            </a:pPr>
            <a:r>
              <a:rPr sz="3150" b="1">
                <a:solidFill>
                  <a:srgbClr val="087F83"/>
                </a:solidFill>
                <a:latin typeface="Aptos"/>
                <a:ea typeface="Aptos"/>
                <a:cs typeface="Aptos"/>
              </a:rPr>
              <a:t>Maximize modeled priority value</a:t>
            </a:r>
          </a:p>
        </p:txBody>
      </p:sp>
      <p:sp>
        <p:nvSpPr>
          <p:cNvPr id="4" name="">
            <a:extLst xmlns:a="http://schemas.openxmlformats.org/drawingml/2006/main">
              <a:ext uri="{FF2B5EF4-FFF2-40B4-BE49-F238E27FC236}">
                <a16:creationId xmlns:a16="http://schemas.microsoft.com/office/drawing/2014/main" id="{285EC50F-B1ED-4E98-9A74-9C9EDD67DFC5}"/>
              </a:ext>
            </a:extLst>
          </p:cNvPr>
          <p:cNvSpPr>
            <a:spLocks xmlns:a="http://schemas.openxmlformats.org/drawingml/2006/main" noGrp="1"/>
          </p:cNvSpPr>
          <p:nvPr/>
        </p:nvSpPr>
        <p:spPr>
          <a:xfrm xmlns:a="http://schemas.openxmlformats.org/drawingml/2006/main">
            <a:off x="609600" y="2714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52D3B"/>
                </a:solidFill>
                <a:latin typeface="Aptos"/>
                <a:ea typeface="Aptos"/>
                <a:cs typeface="Aptos"/>
              </a:defRPr>
            </a:pPr>
            <a:r>
              <a:rPr sz="3675" b="1">
                <a:solidFill>
                  <a:srgbClr val="152D3B"/>
                </a:solidFill>
                <a:latin typeface="Aptos"/>
                <a:ea typeface="Aptos"/>
                <a:cs typeface="Aptos"/>
              </a:rPr>
              <a:t>V = Σ vᵢyᵢ + Σ (vᵢ / pᵢ) Σ xᵢₜ</a:t>
            </a:r>
          </a:p>
        </p:txBody>
      </p:sp>
      <p:sp>
        <p:nvSpPr>
          <p:cNvPr id="5" name="">
            <a:extLst xmlns:a="http://schemas.openxmlformats.org/drawingml/2006/main">
              <a:ext uri="{FF2B5EF4-FFF2-40B4-BE49-F238E27FC236}">
                <a16:creationId xmlns:a16="http://schemas.microsoft.com/office/drawing/2014/main" id="{D3B1CF4D-7812-48CD-B6D7-174F24DE395E}"/>
              </a:ext>
            </a:extLst>
          </p:cNvPr>
          <p:cNvSpPr>
            <a:spLocks xmlns:a="http://schemas.openxmlformats.org/drawingml/2006/main" noGrp="1"/>
          </p:cNvSpPr>
          <p:nvPr/>
        </p:nvSpPr>
        <p:spPr>
          <a:xfrm xmlns:a="http://schemas.openxmlformats.org/drawingml/2006/main">
            <a:off x="609600" y="40862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D3B"/>
                </a:solidFill>
                <a:latin typeface="Aptos"/>
                <a:ea typeface="Aptos"/>
                <a:cs typeface="Aptos"/>
              </a:defRPr>
            </a:pPr>
            <a:r>
              <a:rPr sz="2325" b="0">
                <a:solidFill>
                  <a:srgbClr val="152D3B"/>
                </a:solidFill>
                <a:latin typeface="Aptos"/>
                <a:ea typeface="Aptos"/>
                <a:cs typeface="Aptos"/>
              </a:rPr>
              <a:t>Completed assignments</a:t>
            </a:r>
          </a:p>
        </p:txBody>
      </p:sp>
      <p:sp>
        <p:nvSpPr>
          <p:cNvPr id="6" name="">
            <a:extLst xmlns:a="http://schemas.openxmlformats.org/drawingml/2006/main">
              <a:ext uri="{FF2B5EF4-FFF2-40B4-BE49-F238E27FC236}">
                <a16:creationId xmlns:a16="http://schemas.microsoft.com/office/drawing/2014/main" id="{050D9CC1-5906-40BD-96DD-AFCEADEA24AF}"/>
              </a:ext>
            </a:extLst>
          </p:cNvPr>
          <p:cNvSpPr>
            <a:spLocks xmlns:a="http://schemas.openxmlformats.org/drawingml/2006/main" noGrp="1"/>
          </p:cNvSpPr>
          <p:nvPr/>
        </p:nvSpPr>
        <p:spPr>
          <a:xfrm xmlns:a="http://schemas.openxmlformats.org/drawingml/2006/main">
            <a:off x="6572250" y="40862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D3B"/>
                </a:solidFill>
                <a:latin typeface="Aptos"/>
                <a:ea typeface="Aptos"/>
                <a:cs typeface="Aptos"/>
              </a:defRPr>
            </a:pPr>
            <a:r>
              <a:rPr sz="2325" b="0">
                <a:solidFill>
                  <a:srgbClr val="152D3B"/>
                </a:solidFill>
                <a:latin typeface="Aptos"/>
                <a:ea typeface="Aptos"/>
                <a:cs typeface="Aptos"/>
              </a:rPr>
              <a:t>Preparation coverage</a:t>
            </a:r>
          </a:p>
        </p:txBody>
      </p:sp>
      <p:sp>
        <p:nvSpPr>
          <p:cNvPr id="7" name="">
            <a:extLst xmlns:a="http://schemas.openxmlformats.org/drawingml/2006/main">
              <a:ext uri="{FF2B5EF4-FFF2-40B4-BE49-F238E27FC236}">
                <a16:creationId xmlns:a16="http://schemas.microsoft.com/office/drawing/2014/main" id="{6EB302C4-D279-4608-9039-EF3DEFD79CD6}"/>
              </a:ext>
            </a:extLst>
          </p:cNvPr>
          <p:cNvSpPr>
            <a:spLocks xmlns:a="http://schemas.openxmlformats.org/drawingml/2006/main" noGrp="1"/>
          </p:cNvSpPr>
          <p:nvPr/>
        </p:nvSpPr>
        <p:spPr>
          <a:xfrm xmlns:a="http://schemas.openxmlformats.org/drawingml/2006/main">
            <a:off x="609600" y="52768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66C78"/>
                </a:solidFill>
                <a:latin typeface="Aptos"/>
                <a:ea typeface="Aptos"/>
                <a:cs typeface="Aptos"/>
              </a:defRPr>
            </a:pPr>
            <a:r>
              <a:rPr sz="2250" b="0">
                <a:solidFill>
                  <a:srgbClr val="566C78"/>
                </a:solidFill>
                <a:latin typeface="Aptos"/>
                <a:ea typeface="Aptos"/>
                <a:cs typeface="Aptos"/>
              </a:rPr>
              <a:t>Example: 5 points for A + 2 points for one B slot = 7</a:t>
            </a:r>
          </a:p>
        </p:txBody>
      </p:sp>
    </p:spTree>
    <p:extLst>
      <p:ext uri="{BB962C8B-B14F-4D97-AF65-F5344CB8AC3E}">
        <p14:creationId xmlns:p14="http://schemas.microsoft.com/office/powerpoint/2010/main" val="854061780"/>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F428E56-4036-40EF-A170-06E175F443E8}"/>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D3B"/>
                </a:solidFill>
                <a:latin typeface="Aptos"/>
                <a:ea typeface="Aptos"/>
                <a:cs typeface="Aptos"/>
              </a:defRPr>
            </a:pPr>
            <a:r>
              <a:rPr sz="3450" b="1">
                <a:solidFill>
                  <a:srgbClr val="152D3B"/>
                </a:solidFill>
                <a:latin typeface="Aptos"/>
                <a:ea typeface="Aptos"/>
                <a:cs typeface="Aptos"/>
              </a:rPr>
              <a:t>Each constraint has a practical meaning</a:t>
            </a:r>
          </a:p>
        </p:txBody>
      </p:sp>
      <p:sp>
        <p:nvSpPr>
          <p:cNvPr id="2" name="">
            <a:extLst xmlns:a="http://schemas.openxmlformats.org/drawingml/2006/main">
              <a:ext uri="{FF2B5EF4-FFF2-40B4-BE49-F238E27FC236}">
                <a16:creationId xmlns:a16="http://schemas.microsoft.com/office/drawing/2014/main" id="{C931F4AB-BA4E-4918-AFE9-3637CA5DA488}"/>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C78"/>
                </a:solidFill>
                <a:latin typeface="Aptos"/>
                <a:ea typeface="Aptos"/>
                <a:cs typeface="Aptos"/>
              </a:defRPr>
            </a:pPr>
            <a:r>
              <a:rPr sz="1350" b="0">
                <a:solidFill>
                  <a:srgbClr val="566C78"/>
                </a:solidFill>
                <a:latin typeface="Aptos"/>
                <a:ea typeface="Aptos"/>
                <a:cs typeface="Aptos"/>
              </a:rPr>
              <a:t>06</a:t>
            </a:r>
          </a:p>
        </p:txBody>
      </p:sp>
      <p:graphicFrame>
        <p:nvGraphicFramePr>
          <p:cNvPr id="6" name=""/>
          <p:cNvGraphicFramePr/>
          <p:nvPr/>
        </p:nvGraphicFramePr>
        <p:xfrm>
          <a:off xmlns:a="http://schemas.openxmlformats.org/drawingml/2006/main" x="609600" y="1571625"/>
          <a:ext xmlns:a="http://schemas.openxmlformats.org/drawingml/2006/main" cx="10972800" cy="4191000"/>
        </p:xfrm>
        <a:graphic xmlns:a="http://schemas.openxmlformats.org/drawingml/2006/main">
          <a:graphicData uri="http://schemas.openxmlformats.org/drawingml/2006/table">
            <a:tbl>
              <a:tblPr/>
              <a:tblGrid>
                <a:gridCol w="5486400"/>
                <a:gridCol w="5486400"/>
              </a:tblGrid>
              <a:tr h="698500">
                <a:tc>
                  <a:txBody>
                    <a:bodyPr/>
                    <a:lstStyle/>
                    <a:p>
                      <a:r>
                        <a:rPr sz="2100" b="1">
                          <a:solidFill>
                            <a:srgbClr val="F5F4EF"/>
                          </a:solidFill>
                          <a:latin typeface="Aptos"/>
                          <a:ea typeface="Aptos"/>
                          <a:cs typeface="Aptos"/>
                        </a:rPr>
                        <a:t>Rule</a:t>
                      </a:r>
                    </a:p>
                  </a:txBody>
                  <a:tcPr marL="91440" marR="91440" marT="45720" marB="45720">
                    <a:solidFill>
                      <a:srgbClr val="102331"/>
                    </a:solidFill>
                  </a:tcPr>
                </a:tc>
                <a:tc>
                  <a:txBody>
                    <a:bodyPr/>
                    <a:lstStyle/>
                    <a:p>
                      <a:r>
                        <a:rPr sz="2100" b="1">
                          <a:solidFill>
                            <a:srgbClr val="F5F4EF"/>
                          </a:solidFill>
                          <a:latin typeface="Aptos"/>
                          <a:ea typeface="Aptos"/>
                          <a:cs typeface="Aptos"/>
                        </a:rPr>
                        <a:t>Equation</a:t>
                      </a:r>
                    </a:p>
                  </a:txBody>
                  <a:tcPr marL="91440" marR="91440" marT="45720" marB="45720">
                    <a:solidFill>
                      <a:srgbClr val="102331"/>
                    </a:solidFill>
                  </a:tcPr>
                </a:tc>
              </a:tr>
              <a:tr h="698500">
                <a:tc>
                  <a:txBody>
                    <a:bodyPr/>
                    <a:lstStyle/>
                    <a:p>
                      <a:r>
                        <a:rPr sz="2100" b="0">
                          <a:solidFill>
                            <a:srgbClr val="152D3B"/>
                          </a:solidFill>
                          <a:latin typeface="Aptos"/>
                          <a:ea typeface="Aptos"/>
                          <a:cs typeface="Aptos"/>
                        </a:rPr>
                        <a:t>Complete selected assignments</a:t>
                      </a:r>
                    </a:p>
                  </a:txBody>
                  <a:tcPr marL="91440" marR="91440" marT="45720" marB="45720">
                    <a:solidFill>
                      <a:srgbClr val="FFFFFF"/>
                    </a:solidFill>
                  </a:tcPr>
                </a:tc>
                <a:tc>
                  <a:txBody>
                    <a:bodyPr/>
                    <a:lstStyle/>
                    <a:p>
                      <a:r>
                        <a:rPr sz="2100" b="0">
                          <a:solidFill>
                            <a:srgbClr val="152D3B"/>
                          </a:solidFill>
                          <a:latin typeface="Aptos"/>
                          <a:ea typeface="Aptos"/>
                          <a:cs typeface="Aptos"/>
                        </a:rPr>
                        <a:t>Σₜ xᵢₜ = pᵢyᵢ</a:t>
                      </a:r>
                    </a:p>
                  </a:txBody>
                  <a:tcPr marL="91440" marR="91440" marT="45720" marB="45720">
                    <a:solidFill>
                      <a:srgbClr val="FFFFFF"/>
                    </a:solidFill>
                  </a:tcPr>
                </a:tc>
              </a:tr>
              <a:tr h="698500">
                <a:tc>
                  <a:txBody>
                    <a:bodyPr/>
                    <a:lstStyle/>
                    <a:p>
                      <a:r>
                        <a:rPr sz="2100" b="0">
                          <a:solidFill>
                            <a:srgbClr val="152D3B"/>
                          </a:solidFill>
                          <a:latin typeface="Aptos"/>
                          <a:ea typeface="Aptos"/>
                          <a:cs typeface="Aptos"/>
                        </a:rPr>
                        <a:t>Cap preparation</a:t>
                      </a:r>
                    </a:p>
                  </a:txBody>
                  <a:tcPr marL="91440" marR="91440" marT="45720" marB="45720">
                    <a:solidFill>
                      <a:srgbClr val="E9EEEA"/>
                    </a:solidFill>
                  </a:tcPr>
                </a:tc>
                <a:tc>
                  <a:txBody>
                    <a:bodyPr/>
                    <a:lstStyle/>
                    <a:p>
                      <a:r>
                        <a:rPr sz="2100" b="0">
                          <a:solidFill>
                            <a:srgbClr val="152D3B"/>
                          </a:solidFill>
                          <a:latin typeface="Aptos"/>
                          <a:ea typeface="Aptos"/>
                          <a:cs typeface="Aptos"/>
                        </a:rPr>
                        <a:t>Σₜ xᵢₜ ≤ pᵢ</a:t>
                      </a:r>
                    </a:p>
                  </a:txBody>
                  <a:tcPr marL="91440" marR="91440" marT="45720" marB="45720">
                    <a:solidFill>
                      <a:srgbClr val="E9EEEA"/>
                    </a:solidFill>
                  </a:tcPr>
                </a:tc>
              </a:tr>
              <a:tr h="698500">
                <a:tc>
                  <a:txBody>
                    <a:bodyPr/>
                    <a:lstStyle/>
                    <a:p>
                      <a:r>
                        <a:rPr sz="2100" b="0">
                          <a:solidFill>
                            <a:srgbClr val="152D3B"/>
                          </a:solidFill>
                          <a:latin typeface="Aptos"/>
                          <a:ea typeface="Aptos"/>
                          <a:cs typeface="Aptos"/>
                        </a:rPr>
                        <a:t>Respect available time</a:t>
                      </a:r>
                    </a:p>
                  </a:txBody>
                  <a:tcPr marL="91440" marR="91440" marT="45720" marB="45720">
                    <a:solidFill>
                      <a:srgbClr val="FFFFFF"/>
                    </a:solidFill>
                  </a:tcPr>
                </a:tc>
                <a:tc>
                  <a:txBody>
                    <a:bodyPr/>
                    <a:lstStyle/>
                    <a:p>
                      <a:r>
                        <a:rPr sz="2100" b="0">
                          <a:solidFill>
                            <a:srgbClr val="152D3B"/>
                          </a:solidFill>
                          <a:latin typeface="Aptos"/>
                          <a:ea typeface="Aptos"/>
                          <a:cs typeface="Aptos"/>
                        </a:rPr>
                        <a:t>Σᵢ xᵢₜ ≤ aₜ</a:t>
                      </a:r>
                    </a:p>
                  </a:txBody>
                  <a:tcPr marL="91440" marR="91440" marT="45720" marB="45720">
                    <a:solidFill>
                      <a:srgbClr val="FFFFFF"/>
                    </a:solidFill>
                  </a:tcPr>
                </a:tc>
              </a:tr>
              <a:tr h="698500">
                <a:tc>
                  <a:txBody>
                    <a:bodyPr/>
                    <a:lstStyle/>
                    <a:p>
                      <a:r>
                        <a:rPr sz="2100" b="0">
                          <a:solidFill>
                            <a:srgbClr val="152D3B"/>
                          </a:solidFill>
                          <a:latin typeface="Aptos"/>
                          <a:ea typeface="Aptos"/>
                          <a:cs typeface="Aptos"/>
                        </a:rPr>
                        <a:t>Respect release and deadline</a:t>
                      </a:r>
                    </a:p>
                  </a:txBody>
                  <a:tcPr marL="91440" marR="91440" marT="45720" marB="45720">
                    <a:solidFill>
                      <a:srgbClr val="E9EEEA"/>
                    </a:solidFill>
                  </a:tcPr>
                </a:tc>
                <a:tc>
                  <a:txBody>
                    <a:bodyPr/>
                    <a:lstStyle/>
                    <a:p>
                      <a:r>
                        <a:rPr sz="2100" b="0">
                          <a:solidFill>
                            <a:srgbClr val="152D3B"/>
                          </a:solidFill>
                          <a:latin typeface="Aptos"/>
                          <a:ea typeface="Aptos"/>
                          <a:cs typeface="Aptos"/>
                        </a:rPr>
                        <a:t>xᵢₜ = 0 outside [rᵢ, dᵢ]</a:t>
                      </a:r>
                    </a:p>
                  </a:txBody>
                  <a:tcPr marL="91440" marR="91440" marT="45720" marB="45720">
                    <a:solidFill>
                      <a:srgbClr val="E9EEEA"/>
                    </a:solidFill>
                  </a:tcPr>
                </a:tc>
              </a:tr>
              <a:tr h="698500">
                <a:tc>
                  <a:txBody>
                    <a:bodyPr/>
                    <a:lstStyle/>
                    <a:p>
                      <a:r>
                        <a:rPr sz="2100" b="0">
                          <a:solidFill>
                            <a:srgbClr val="152D3B"/>
                          </a:solidFill>
                          <a:latin typeface="Aptos"/>
                          <a:ea typeface="Aptos"/>
                          <a:cs typeface="Aptos"/>
                        </a:rPr>
                        <a:t>Use whole-slot decisions</a:t>
                      </a:r>
                    </a:p>
                  </a:txBody>
                  <a:tcPr marL="91440" marR="91440" marT="45720" marB="45720">
                    <a:solidFill>
                      <a:srgbClr val="FFFFFF"/>
                    </a:solidFill>
                  </a:tcPr>
                </a:tc>
                <a:tc>
                  <a:txBody>
                    <a:bodyPr/>
                    <a:lstStyle/>
                    <a:p>
                      <a:r>
                        <a:rPr sz="2100" b="0">
                          <a:solidFill>
                            <a:srgbClr val="152D3B"/>
                          </a:solidFill>
                          <a:latin typeface="Aptos"/>
                          <a:ea typeface="Aptos"/>
                          <a:cs typeface="Aptos"/>
                        </a:rPr>
                        <a:t>xᵢₜ, yᵢ ∈ {0, 1}</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64782384"/>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D20A42-951E-48A8-A139-D00715E8113F}"/>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D3B"/>
                </a:solidFill>
                <a:latin typeface="Aptos"/>
                <a:ea typeface="Aptos"/>
                <a:cs typeface="Aptos"/>
              </a:defRPr>
            </a:pPr>
            <a:r>
              <a:rPr sz="3450" b="1">
                <a:solidFill>
                  <a:srgbClr val="152D3B"/>
                </a:solidFill>
                <a:latin typeface="Aptos"/>
                <a:ea typeface="Aptos"/>
                <a:cs typeface="Aptos"/>
              </a:rPr>
              <a:t>A binary integer linear program</a:t>
            </a:r>
          </a:p>
        </p:txBody>
      </p:sp>
      <p:sp>
        <p:nvSpPr>
          <p:cNvPr id="2" name="">
            <a:extLst xmlns:a="http://schemas.openxmlformats.org/drawingml/2006/main">
              <a:ext uri="{FF2B5EF4-FFF2-40B4-BE49-F238E27FC236}">
                <a16:creationId xmlns:a16="http://schemas.microsoft.com/office/drawing/2014/main" id="{0D4D0A3E-29FC-47CC-BE0A-C878F1756581}"/>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C78"/>
                </a:solidFill>
                <a:latin typeface="Aptos"/>
                <a:ea typeface="Aptos"/>
                <a:cs typeface="Aptos"/>
              </a:defRPr>
            </a:pPr>
            <a:r>
              <a:rPr sz="1350" b="0">
                <a:solidFill>
                  <a:srgbClr val="566C78"/>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F3AAA0E3-AE34-4192-9D83-D2D45FB79287}"/>
              </a:ext>
            </a:extLst>
          </p:cNvPr>
          <p:cNvSpPr>
            <a:spLocks xmlns:a="http://schemas.openxmlformats.org/drawingml/2006/main" noGrp="1"/>
          </p:cNvSpPr>
          <p:nvPr/>
        </p:nvSpPr>
        <p:spPr>
          <a:xfrm xmlns:a="http://schemas.openxmlformats.org/drawingml/2006/main">
            <a:off x="609600" y="18192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3"/>
                </a:solidFill>
                <a:latin typeface="Aptos"/>
                <a:ea typeface="Aptos"/>
                <a:cs typeface="Aptos"/>
              </a:defRPr>
            </a:pPr>
            <a:r>
              <a:rPr sz="3225" b="1">
                <a:solidFill>
                  <a:srgbClr val="087F83"/>
                </a:solidFill>
                <a:latin typeface="Aptos"/>
                <a:ea typeface="Aptos"/>
                <a:cs typeface="Aptos"/>
              </a:rPr>
              <a:t>Linear</a:t>
            </a:r>
          </a:p>
        </p:txBody>
      </p:sp>
      <p:sp>
        <p:nvSpPr>
          <p:cNvPr id="4" name="">
            <a:extLst xmlns:a="http://schemas.openxmlformats.org/drawingml/2006/main">
              <a:ext uri="{FF2B5EF4-FFF2-40B4-BE49-F238E27FC236}">
                <a16:creationId xmlns:a16="http://schemas.microsoft.com/office/drawing/2014/main" id="{B1BFA699-7F12-4F8D-A1A5-CEC6D9A9FC55}"/>
              </a:ext>
            </a:extLst>
          </p:cNvPr>
          <p:cNvSpPr>
            <a:spLocks xmlns:a="http://schemas.openxmlformats.org/drawingml/2006/main" noGrp="1"/>
          </p:cNvSpPr>
          <p:nvPr/>
        </p:nvSpPr>
        <p:spPr>
          <a:xfrm xmlns:a="http://schemas.openxmlformats.org/drawingml/2006/main">
            <a:off x="609600" y="2657475"/>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D3B"/>
                </a:solidFill>
                <a:latin typeface="Aptos"/>
                <a:ea typeface="Aptos"/>
                <a:cs typeface="Aptos"/>
              </a:defRPr>
            </a:pPr>
            <a:r>
              <a:rPr sz="2550" b="0">
                <a:solidFill>
                  <a:srgbClr val="152D3B"/>
                </a:solidFill>
                <a:latin typeface="Aptos"/>
                <a:ea typeface="Aptos"/>
                <a:cs typeface="Aptos"/>
              </a:rPr>
              <a:t>Fixed coefficients multiply</a:t>
            </a:r>
          </a:p>
          <a:p xmlns:a="http://schemas.openxmlformats.org/drawingml/2006/main">
            <a:pPr>
              <a:defRPr sz="2550" b="0">
                <a:solidFill>
                  <a:srgbClr val="152D3B"/>
                </a:solidFill>
                <a:latin typeface="Aptos"/>
                <a:ea typeface="Aptos"/>
                <a:cs typeface="Aptos"/>
              </a:defRPr>
            </a:pPr>
            <a:r>
              <a:rPr sz="2550" b="0">
                <a:solidFill>
                  <a:srgbClr val="152D3B"/>
                </a:solidFill>
                <a:latin typeface="Aptos"/>
                <a:ea typeface="Aptos"/>
                <a:cs typeface="Aptos"/>
              </a:rPr>
              <a:t>the decision variables</a:t>
            </a:r>
          </a:p>
        </p:txBody>
      </p:sp>
      <p:sp>
        <p:nvSpPr>
          <p:cNvPr id="5" name="">
            <a:extLst xmlns:a="http://schemas.openxmlformats.org/drawingml/2006/main">
              <a:ext uri="{FF2B5EF4-FFF2-40B4-BE49-F238E27FC236}">
                <a16:creationId xmlns:a16="http://schemas.microsoft.com/office/drawing/2014/main" id="{1E6C645E-31D3-4D36-8E43-A05506F38E7B}"/>
              </a:ext>
            </a:extLst>
          </p:cNvPr>
          <p:cNvSpPr>
            <a:spLocks xmlns:a="http://schemas.openxmlformats.org/drawingml/2006/main" noGrp="1"/>
          </p:cNvSpPr>
          <p:nvPr/>
        </p:nvSpPr>
        <p:spPr>
          <a:xfrm xmlns:a="http://schemas.openxmlformats.org/drawingml/2006/main">
            <a:off x="6667500" y="18192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3"/>
                </a:solidFill>
                <a:latin typeface="Aptos"/>
                <a:ea typeface="Aptos"/>
                <a:cs typeface="Aptos"/>
              </a:defRPr>
            </a:pPr>
            <a:r>
              <a:rPr sz="3225" b="1">
                <a:solidFill>
                  <a:srgbClr val="087F83"/>
                </a:solidFill>
                <a:latin typeface="Aptos"/>
                <a:ea typeface="Aptos"/>
                <a:cs typeface="Aptos"/>
              </a:rPr>
              <a:t>Binary</a:t>
            </a:r>
          </a:p>
        </p:txBody>
      </p:sp>
      <p:sp>
        <p:nvSpPr>
          <p:cNvPr id="6" name="">
            <a:extLst xmlns:a="http://schemas.openxmlformats.org/drawingml/2006/main">
              <a:ext uri="{FF2B5EF4-FFF2-40B4-BE49-F238E27FC236}">
                <a16:creationId xmlns:a16="http://schemas.microsoft.com/office/drawing/2014/main" id="{FD23B297-91BB-4A97-884D-9E5F72C5F711}"/>
              </a:ext>
            </a:extLst>
          </p:cNvPr>
          <p:cNvSpPr>
            <a:spLocks xmlns:a="http://schemas.openxmlformats.org/drawingml/2006/main" noGrp="1"/>
          </p:cNvSpPr>
          <p:nvPr/>
        </p:nvSpPr>
        <p:spPr>
          <a:xfrm xmlns:a="http://schemas.openxmlformats.org/drawingml/2006/main">
            <a:off x="6667500" y="2657475"/>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D3B"/>
                </a:solidFill>
                <a:latin typeface="Aptos"/>
                <a:ea typeface="Aptos"/>
                <a:cs typeface="Aptos"/>
              </a:defRPr>
            </a:pPr>
            <a:r>
              <a:rPr sz="2550" b="0">
                <a:solidFill>
                  <a:srgbClr val="152D3B"/>
                </a:solidFill>
                <a:latin typeface="Aptos"/>
                <a:ea typeface="Aptos"/>
                <a:cs typeface="Aptos"/>
              </a:rPr>
              <a:t>Each calendar choice</a:t>
            </a:r>
          </a:p>
          <a:p xmlns:a="http://schemas.openxmlformats.org/drawingml/2006/main">
            <a:pPr>
              <a:defRPr sz="2550" b="0">
                <a:solidFill>
                  <a:srgbClr val="152D3B"/>
                </a:solidFill>
                <a:latin typeface="Aptos"/>
                <a:ea typeface="Aptos"/>
                <a:cs typeface="Aptos"/>
              </a:defRPr>
            </a:pPr>
            <a:r>
              <a:rPr sz="2550" b="0">
                <a:solidFill>
                  <a:srgbClr val="152D3B"/>
                </a:solidFill>
                <a:latin typeface="Aptos"/>
                <a:ea typeface="Aptos"/>
                <a:cs typeface="Aptos"/>
              </a:rPr>
              <a:t>is either 0 or 1</a:t>
            </a:r>
          </a:p>
        </p:txBody>
      </p:sp>
      <p:sp>
        <p:nvSpPr>
          <p:cNvPr id="7" name="">
            <a:extLst xmlns:a="http://schemas.openxmlformats.org/drawingml/2006/main">
              <a:ext uri="{FF2B5EF4-FFF2-40B4-BE49-F238E27FC236}">
                <a16:creationId xmlns:a16="http://schemas.microsoft.com/office/drawing/2014/main" id="{9C2D35DC-18F8-4DCC-8CBD-FF1648E813FF}"/>
              </a:ext>
            </a:extLst>
          </p:cNvPr>
          <p:cNvSpPr>
            <a:spLocks xmlns:a="http://schemas.openxmlformats.org/drawingml/2006/main" noGrp="1"/>
          </p:cNvSpPr>
          <p:nvPr/>
        </p:nvSpPr>
        <p:spPr>
          <a:xfrm xmlns:a="http://schemas.openxmlformats.org/drawingml/2006/main">
            <a:off x="609600" y="4762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52D3B"/>
                </a:solidFill>
                <a:latin typeface="Aptos"/>
                <a:ea typeface="Aptos"/>
                <a:cs typeface="Aptos"/>
              </a:defRPr>
            </a:pPr>
            <a:r>
              <a:rPr sz="2775" b="1">
                <a:solidFill>
                  <a:srgbClr val="152D3B"/>
                </a:solidFill>
                <a:latin typeface="Aptos"/>
                <a:ea typeface="Aptos"/>
                <a:cs typeface="Aptos"/>
              </a:rPr>
              <a:t>A half-selected assignment is not a legal midpoint.</a:t>
            </a:r>
          </a:p>
        </p:txBody>
      </p:sp>
    </p:spTree>
    <p:extLst>
      <p:ext uri="{BB962C8B-B14F-4D97-AF65-F5344CB8AC3E}">
        <p14:creationId xmlns:p14="http://schemas.microsoft.com/office/powerpoint/2010/main" val="1454231830"/>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5870DA-6927-4612-8F4F-EEF2F8A8F261}"/>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D3B"/>
                </a:solidFill>
                <a:latin typeface="Aptos"/>
                <a:ea typeface="Aptos"/>
                <a:cs typeface="Aptos"/>
              </a:defRPr>
            </a:pPr>
            <a:r>
              <a:rPr sz="3450" b="1">
                <a:solidFill>
                  <a:srgbClr val="152D3B"/>
                </a:solidFill>
                <a:latin typeface="Aptos"/>
                <a:ea typeface="Aptos"/>
                <a:cs typeface="Aptos"/>
              </a:rPr>
              <a:t>An executable and checked formulation</a:t>
            </a:r>
          </a:p>
        </p:txBody>
      </p:sp>
      <p:sp>
        <p:nvSpPr>
          <p:cNvPr id="2" name="">
            <a:extLst xmlns:a="http://schemas.openxmlformats.org/drawingml/2006/main">
              <a:ext uri="{FF2B5EF4-FFF2-40B4-BE49-F238E27FC236}">
                <a16:creationId xmlns:a16="http://schemas.microsoft.com/office/drawing/2014/main" id="{15018A6E-3DB1-4540-92EC-6BC5F80EE913}"/>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C78"/>
                </a:solidFill>
                <a:latin typeface="Aptos"/>
                <a:ea typeface="Aptos"/>
                <a:cs typeface="Aptos"/>
              </a:defRPr>
            </a:pPr>
            <a:r>
              <a:rPr sz="1350" b="0">
                <a:solidFill>
                  <a:srgbClr val="566C78"/>
                </a:solidFill>
                <a:latin typeface="Aptos"/>
                <a:ea typeface="Aptos"/>
                <a:cs typeface="Aptos"/>
              </a:rPr>
              <a:t>08</a:t>
            </a:r>
          </a:p>
        </p:txBody>
      </p:sp>
      <p:graphicFrame>
        <p:nvGraphicFramePr>
          <p:cNvPr id="7" name=""/>
          <p:cNvGraphicFramePr/>
          <p:nvPr/>
        </p:nvGraphicFramePr>
        <p:xfrm>
          <a:off xmlns:a="http://schemas.openxmlformats.org/drawingml/2006/main" x="609600" y="1714500"/>
          <a:ext xmlns:a="http://schemas.openxmlformats.org/drawingml/2006/main" cx="10972800" cy="3286125"/>
        </p:xfrm>
        <a:graphic xmlns:a="http://schemas.openxmlformats.org/drawingml/2006/main">
          <a:graphicData uri="http://schemas.openxmlformats.org/drawingml/2006/table">
            <a:tbl>
              <a:tblPr/>
              <a:tblGrid>
                <a:gridCol w="5486400"/>
                <a:gridCol w="5486400"/>
              </a:tblGrid>
              <a:tr h="657225">
                <a:tc>
                  <a:txBody>
                    <a:bodyPr/>
                    <a:lstStyle/>
                    <a:p>
                      <a:r>
                        <a:rPr sz="2025" b="1">
                          <a:solidFill>
                            <a:srgbClr val="F5F4EF"/>
                          </a:solidFill>
                          <a:latin typeface="Aptos"/>
                          <a:ea typeface="Aptos"/>
                          <a:cs typeface="Aptos"/>
                        </a:rPr>
                        <a:t>Implementation</a:t>
                      </a:r>
                    </a:p>
                  </a:txBody>
                  <a:tcPr marL="91440" marR="91440" marT="45720" marB="45720">
                    <a:solidFill>
                      <a:srgbClr val="102331"/>
                    </a:solidFill>
                  </a:tcPr>
                </a:tc>
                <a:tc>
                  <a:txBody>
                    <a:bodyPr/>
                    <a:lstStyle/>
                    <a:p>
                      <a:r>
                        <a:rPr sz="2025" b="1">
                          <a:solidFill>
                            <a:srgbClr val="F5F4EF"/>
                          </a:solidFill>
                          <a:latin typeface="Aptos"/>
                          <a:ea typeface="Aptos"/>
                          <a:cs typeface="Aptos"/>
                        </a:rPr>
                        <a:t>Evidence</a:t>
                      </a:r>
                    </a:p>
                  </a:txBody>
                  <a:tcPr marL="91440" marR="91440" marT="45720" marB="45720">
                    <a:solidFill>
                      <a:srgbClr val="102331"/>
                    </a:solidFill>
                  </a:tcPr>
                </a:tc>
              </a:tr>
              <a:tr h="657225">
                <a:tc>
                  <a:txBody>
                    <a:bodyPr/>
                    <a:lstStyle/>
                    <a:p>
                      <a:r>
                        <a:rPr sz="2025" b="0">
                          <a:solidFill>
                            <a:srgbClr val="152D3B"/>
                          </a:solidFill>
                          <a:latin typeface="Aptos"/>
                          <a:ea typeface="Aptos"/>
                          <a:cs typeface="Aptos"/>
                        </a:rPr>
                        <a:t>SciPy + HiGHS</a:t>
                      </a:r>
                    </a:p>
                  </a:txBody>
                  <a:tcPr marL="91440" marR="91440" marT="45720" marB="45720">
                    <a:solidFill>
                      <a:srgbClr val="FFFFFF"/>
                    </a:solidFill>
                  </a:tcPr>
                </a:tc>
                <a:tc>
                  <a:txBody>
                    <a:bodyPr/>
                    <a:lstStyle/>
                    <a:p>
                      <a:r>
                        <a:rPr sz="2025" b="0">
                          <a:solidFill>
                            <a:srgbClr val="152D3B"/>
                          </a:solidFill>
                          <a:latin typeface="Aptos"/>
                          <a:ea typeface="Aptos"/>
                          <a:cs typeface="Aptos"/>
                        </a:rPr>
                        <a:t>93 binary variables, 36 constraints</a:t>
                      </a:r>
                    </a:p>
                  </a:txBody>
                  <a:tcPr marL="91440" marR="91440" marT="45720" marB="45720">
                    <a:solidFill>
                      <a:srgbClr val="FFFFFF"/>
                    </a:solidFill>
                  </a:tcPr>
                </a:tc>
              </a:tr>
              <a:tr h="657225">
                <a:tc>
                  <a:txBody>
                    <a:bodyPr/>
                    <a:lstStyle/>
                    <a:p>
                      <a:r>
                        <a:rPr sz="2025" b="0">
                          <a:solidFill>
                            <a:srgbClr val="152D3B"/>
                          </a:solidFill>
                          <a:latin typeface="Aptos"/>
                          <a:ea typeface="Aptos"/>
                          <a:cs typeface="Aptos"/>
                        </a:rPr>
                        <a:t>Independent validator</a:t>
                      </a:r>
                    </a:p>
                  </a:txBody>
                  <a:tcPr marL="91440" marR="91440" marT="45720" marB="45720">
                    <a:solidFill>
                      <a:srgbClr val="E9EEEA"/>
                    </a:solidFill>
                  </a:tcPr>
                </a:tc>
                <a:tc>
                  <a:txBody>
                    <a:bodyPr/>
                    <a:lstStyle/>
                    <a:p>
                      <a:r>
                        <a:rPr sz="2025" b="0">
                          <a:solidFill>
                            <a:srgbClr val="152D3B"/>
                          </a:solidFill>
                          <a:latin typeface="Aptos"/>
                          <a:ea typeface="Aptos"/>
                          <a:cs typeface="Aptos"/>
                        </a:rPr>
                        <a:t>Windows, workload, occupancy, score</a:t>
                      </a:r>
                    </a:p>
                  </a:txBody>
                  <a:tcPr marL="91440" marR="91440" marT="45720" marB="45720">
                    <a:solidFill>
                      <a:srgbClr val="E9EEEA"/>
                    </a:solidFill>
                  </a:tcPr>
                </a:tc>
              </a:tr>
              <a:tr h="657225">
                <a:tc>
                  <a:txBody>
                    <a:bodyPr/>
                    <a:lstStyle/>
                    <a:p>
                      <a:r>
                        <a:rPr sz="2025" b="0">
                          <a:solidFill>
                            <a:srgbClr val="152D3B"/>
                          </a:solidFill>
                          <a:latin typeface="Aptos"/>
                          <a:ea typeface="Aptos"/>
                          <a:cs typeface="Aptos"/>
                        </a:rPr>
                        <a:t>Five automated tests</a:t>
                      </a:r>
                    </a:p>
                  </a:txBody>
                  <a:tcPr marL="91440" marR="91440" marT="45720" marB="45720">
                    <a:solidFill>
                      <a:srgbClr val="FFFFFF"/>
                    </a:solidFill>
                  </a:tcPr>
                </a:tc>
                <a:tc>
                  <a:txBody>
                    <a:bodyPr/>
                    <a:lstStyle/>
                    <a:p>
                      <a:r>
                        <a:rPr sz="2025" b="0">
                          <a:solidFill>
                            <a:srgbClr val="152D3B"/>
                          </a:solidFill>
                          <a:latin typeface="Aptos"/>
                          <a:ea typeface="Aptos"/>
                          <a:cs typeface="Aptos"/>
                        </a:rPr>
                        <a:t>Includes 27-calendar enumeration</a:t>
                      </a:r>
                    </a:p>
                  </a:txBody>
                  <a:tcPr marL="91440" marR="91440" marT="45720" marB="45720">
                    <a:solidFill>
                      <a:srgbClr val="FFFFFF"/>
                    </a:solidFill>
                  </a:tcPr>
                </a:tc>
              </a:tr>
              <a:tr h="657225">
                <a:tc>
                  <a:txBody>
                    <a:bodyPr/>
                    <a:lstStyle/>
                    <a:p>
                      <a:r>
                        <a:rPr sz="2025" b="0">
                          <a:solidFill>
                            <a:srgbClr val="152D3B"/>
                          </a:solidFill>
                          <a:latin typeface="Aptos"/>
                          <a:ea typeface="Aptos"/>
                          <a:cs typeface="Aptos"/>
                        </a:rPr>
                        <a:t>Optimality certificate</a:t>
                      </a:r>
                    </a:p>
                  </a:txBody>
                  <a:tcPr marL="91440" marR="91440" marT="45720" marB="45720">
                    <a:solidFill>
                      <a:srgbClr val="E9EEEA"/>
                    </a:solidFill>
                  </a:tcPr>
                </a:tc>
                <a:tc>
                  <a:txBody>
                    <a:bodyPr/>
                    <a:lstStyle/>
                    <a:p>
                      <a:r>
                        <a:rPr sz="2025" b="0">
                          <a:solidFill>
                            <a:srgbClr val="152D3B"/>
                          </a:solidFill>
                          <a:latin typeface="Aptos"/>
                          <a:ea typeface="Aptos"/>
                          <a:cs typeface="Aptos"/>
                        </a:rPr>
                        <a:t>Feasible value 67 = upper bound 67</a:t>
                      </a:r>
                    </a:p>
                  </a:txBody>
                  <a:tcPr marL="91440" marR="91440" marT="45720" marB="45720">
                    <a:solidFill>
                      <a:srgbClr val="E9EEEA"/>
                    </a:solidFill>
                  </a:tcPr>
                </a:tc>
              </a:tr>
            </a:tbl>
          </a:graphicData>
        </a:graphic>
      </p:graphicFrame>
      <p:sp>
        <p:nvSpPr>
          <p:cNvPr id="4" name="">
            <a:extLst xmlns:a="http://schemas.openxmlformats.org/drawingml/2006/main">
              <a:ext uri="{FF2B5EF4-FFF2-40B4-BE49-F238E27FC236}">
                <a16:creationId xmlns:a16="http://schemas.microsoft.com/office/drawing/2014/main" id="{4F5A3AC6-7914-4353-B8F3-1850ECAFE0DD}"/>
              </a:ext>
            </a:extLst>
          </p:cNvPr>
          <p:cNvSpPr>
            <a:spLocks xmlns:a="http://schemas.openxmlformats.org/drawingml/2006/main" noGrp="1"/>
          </p:cNvSpPr>
          <p:nvPr/>
        </p:nvSpPr>
        <p:spPr>
          <a:xfrm xmlns:a="http://schemas.openxmlformats.org/drawingml/2006/main">
            <a:off x="609600" y="54292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F83"/>
                </a:solidFill>
                <a:latin typeface="Aptos"/>
                <a:ea typeface="Aptos"/>
                <a:cs typeface="Aptos"/>
              </a:defRPr>
            </a:pPr>
            <a:r>
              <a:rPr sz="2700" b="1">
                <a:solidFill>
                  <a:srgbClr val="087F83"/>
                </a:solidFill>
                <a:latin typeface="Aptos"/>
                <a:ea typeface="Aptos"/>
                <a:cs typeface="Aptos"/>
              </a:rPr>
              <a:t>Zero reported MIP gap for the base case</a:t>
            </a:r>
          </a:p>
        </p:txBody>
      </p:sp>
    </p:spTree>
    <p:extLst>
      <p:ext uri="{BB962C8B-B14F-4D97-AF65-F5344CB8AC3E}">
        <p14:creationId xmlns:p14="http://schemas.microsoft.com/office/powerpoint/2010/main" val="1924724117"/>
      </p:ext>
    </p:extLst>
  </p:cSld>
</p:sld>
</file>

<file path=ppt/slides/slide9.xml><?xml version="1.0" encoding="utf-8"?>
<p:sld xmlns:p="http://schemas.openxmlformats.org/presentationml/2006/main">
  <p:cSld>
    <p:bg>
      <p:bgPr>
        <a:solidFill xmlns:a="http://schemas.openxmlformats.org/drawingml/2006/main">
          <a:srgbClr val="10233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EF16A0-0B2C-4C09-82D3-EEFAF727E467}"/>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5F4EF"/>
                </a:solidFill>
                <a:latin typeface="Aptos"/>
                <a:ea typeface="Aptos"/>
                <a:cs typeface="Aptos"/>
              </a:defRPr>
            </a:pPr>
            <a:r>
              <a:rPr sz="3450" b="1">
                <a:solidFill>
                  <a:srgbClr val="F5F4EF"/>
                </a:solidFill>
                <a:latin typeface="Aptos"/>
                <a:ea typeface="Aptos"/>
                <a:cs typeface="Aptos"/>
              </a:rPr>
              <a:t>67 points versus 54</a:t>
            </a:r>
          </a:p>
        </p:txBody>
      </p:sp>
      <p:sp>
        <p:nvSpPr>
          <p:cNvPr id="2" name="">
            <a:extLst xmlns:a="http://schemas.openxmlformats.org/drawingml/2006/main">
              <a:ext uri="{FF2B5EF4-FFF2-40B4-BE49-F238E27FC236}">
                <a16:creationId xmlns:a16="http://schemas.microsoft.com/office/drawing/2014/main" id="{0AF9B075-47FB-49FF-9B2C-A66D5F8F5457}"/>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4CAD3"/>
                </a:solidFill>
                <a:latin typeface="Aptos"/>
                <a:ea typeface="Aptos"/>
                <a:cs typeface="Aptos"/>
              </a:defRPr>
            </a:pPr>
            <a:r>
              <a:rPr sz="1350" b="0">
                <a:solidFill>
                  <a:srgbClr val="B4CAD3"/>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BFCA4469-ACAB-402C-AEE3-9F6E798FC2EA}"/>
              </a:ext>
            </a:extLst>
          </p:cNvPr>
          <p:cNvSpPr>
            <a:spLocks xmlns:a="http://schemas.openxmlformats.org/drawingml/2006/main" noGrp="1"/>
          </p:cNvSpPr>
          <p:nvPr/>
        </p:nvSpPr>
        <p:spPr>
          <a:xfrm xmlns:a="http://schemas.openxmlformats.org/drawingml/2006/main">
            <a:off x="609600" y="1752600"/>
            <a:ext cx="4572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900" b="1">
                <a:solidFill>
                  <a:srgbClr val="B4CAD3"/>
                </a:solidFill>
                <a:latin typeface="Aptos"/>
                <a:ea typeface="Aptos"/>
                <a:cs typeface="Aptos"/>
              </a:defRPr>
            </a:pPr>
            <a:r>
              <a:rPr sz="9900" b="1">
                <a:solidFill>
                  <a:srgbClr val="B4CAD3"/>
                </a:solidFill>
                <a:latin typeface="Aptos"/>
                <a:ea typeface="Aptos"/>
                <a:cs typeface="Aptos"/>
              </a:rPr>
              <a:t>54</a:t>
            </a:r>
          </a:p>
        </p:txBody>
      </p:sp>
      <p:sp>
        <p:nvSpPr>
          <p:cNvPr id="4" name="">
            <a:extLst xmlns:a="http://schemas.openxmlformats.org/drawingml/2006/main">
              <a:ext uri="{FF2B5EF4-FFF2-40B4-BE49-F238E27FC236}">
                <a16:creationId xmlns:a16="http://schemas.microsoft.com/office/drawing/2014/main" id="{6B3A2568-ED62-43F0-9C27-0B489A96B34A}"/>
              </a:ext>
            </a:extLst>
          </p:cNvPr>
          <p:cNvSpPr>
            <a:spLocks xmlns:a="http://schemas.openxmlformats.org/drawingml/2006/main" noGrp="1"/>
          </p:cNvSpPr>
          <p:nvPr/>
        </p:nvSpPr>
        <p:spPr>
          <a:xfrm xmlns:a="http://schemas.openxmlformats.org/drawingml/2006/main">
            <a:off x="685800" y="35909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4EF"/>
                </a:solidFill>
                <a:latin typeface="Aptos"/>
                <a:ea typeface="Aptos"/>
                <a:cs typeface="Aptos"/>
              </a:defRPr>
            </a:pPr>
            <a:r>
              <a:rPr sz="2400" b="0">
                <a:solidFill>
                  <a:srgbClr val="F5F4EF"/>
                </a:solidFill>
                <a:latin typeface="Aptos"/>
                <a:ea typeface="Aptos"/>
                <a:cs typeface="Aptos"/>
              </a:rPr>
              <a:t>Deadline-first baseline</a:t>
            </a:r>
          </a:p>
        </p:txBody>
      </p:sp>
      <p:sp>
        <p:nvSpPr>
          <p:cNvPr id="5" name="">
            <a:extLst xmlns:a="http://schemas.openxmlformats.org/drawingml/2006/main">
              <a:ext uri="{FF2B5EF4-FFF2-40B4-BE49-F238E27FC236}">
                <a16:creationId xmlns:a16="http://schemas.microsoft.com/office/drawing/2014/main" id="{80730651-9715-4CB0-97A7-7E98605037C2}"/>
              </a:ext>
            </a:extLst>
          </p:cNvPr>
          <p:cNvSpPr>
            <a:spLocks xmlns:a="http://schemas.openxmlformats.org/drawingml/2006/main" noGrp="1"/>
          </p:cNvSpPr>
          <p:nvPr/>
        </p:nvSpPr>
        <p:spPr>
          <a:xfrm xmlns:a="http://schemas.openxmlformats.org/drawingml/2006/main">
            <a:off x="6838950" y="1752600"/>
            <a:ext cx="4572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900" b="1">
                <a:solidFill>
                  <a:srgbClr val="65DDD2"/>
                </a:solidFill>
                <a:latin typeface="Aptos"/>
                <a:ea typeface="Aptos"/>
                <a:cs typeface="Aptos"/>
              </a:defRPr>
            </a:pPr>
            <a:r>
              <a:rPr sz="9900" b="1">
                <a:solidFill>
                  <a:srgbClr val="65DDD2"/>
                </a:solidFill>
                <a:latin typeface="Aptos"/>
                <a:ea typeface="Aptos"/>
                <a:cs typeface="Aptos"/>
              </a:rPr>
              <a:t>67</a:t>
            </a:r>
          </a:p>
        </p:txBody>
      </p:sp>
      <p:sp>
        <p:nvSpPr>
          <p:cNvPr id="6" name="">
            <a:extLst xmlns:a="http://schemas.openxmlformats.org/drawingml/2006/main">
              <a:ext uri="{FF2B5EF4-FFF2-40B4-BE49-F238E27FC236}">
                <a16:creationId xmlns:a16="http://schemas.microsoft.com/office/drawing/2014/main" id="{F27D4BDF-3E75-4576-AC23-3474BA176790}"/>
              </a:ext>
            </a:extLst>
          </p:cNvPr>
          <p:cNvSpPr>
            <a:spLocks xmlns:a="http://schemas.openxmlformats.org/drawingml/2006/main" noGrp="1"/>
          </p:cNvSpPr>
          <p:nvPr/>
        </p:nvSpPr>
        <p:spPr>
          <a:xfrm xmlns:a="http://schemas.openxmlformats.org/drawingml/2006/main">
            <a:off x="6915150" y="3590925"/>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4EF"/>
                </a:solidFill>
                <a:latin typeface="Aptos"/>
                <a:ea typeface="Aptos"/>
                <a:cs typeface="Aptos"/>
              </a:defRPr>
            </a:pPr>
            <a:r>
              <a:rPr sz="2400" b="0">
                <a:solidFill>
                  <a:srgbClr val="F5F4EF"/>
                </a:solidFill>
                <a:latin typeface="Aptos"/>
                <a:ea typeface="Aptos"/>
                <a:cs typeface="Aptos"/>
              </a:rPr>
              <a:t>Proven model optimum</a:t>
            </a:r>
          </a:p>
        </p:txBody>
      </p:sp>
      <p:sp>
        <p:nvSpPr>
          <p:cNvPr id="7" name="">
            <a:extLst xmlns:a="http://schemas.openxmlformats.org/drawingml/2006/main">
              <a:ext uri="{FF2B5EF4-FFF2-40B4-BE49-F238E27FC236}">
                <a16:creationId xmlns:a16="http://schemas.microsoft.com/office/drawing/2014/main" id="{90E96B3F-9CE3-4B51-92BF-47819961E27B}"/>
              </a:ext>
            </a:extLst>
          </p:cNvPr>
          <p:cNvSpPr>
            <a:spLocks xmlns:a="http://schemas.openxmlformats.org/drawingml/2006/main" noGrp="1"/>
          </p:cNvSpPr>
          <p:nvPr/>
        </p:nvSpPr>
        <p:spPr>
          <a:xfrm xmlns:a="http://schemas.openxmlformats.org/drawingml/2006/main">
            <a:off x="609600" y="49149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5F4EF"/>
                </a:solidFill>
                <a:latin typeface="Aptos"/>
                <a:ea typeface="Aptos"/>
                <a:cs typeface="Aptos"/>
              </a:defRPr>
            </a:pPr>
            <a:r>
              <a:rPr sz="3300" b="1">
                <a:solidFill>
                  <a:srgbClr val="F5F4EF"/>
                </a:solidFill>
                <a:latin typeface="Aptos"/>
                <a:ea typeface="Aptos"/>
                <a:cs typeface="Aptos"/>
              </a:rPr>
              <a:t>+13 modeled priority points</a:t>
            </a:r>
          </a:p>
        </p:txBody>
      </p:sp>
    </p:spTree>
    <p:extLst>
      <p:ext uri="{BB962C8B-B14F-4D97-AF65-F5344CB8AC3E}">
        <p14:creationId xmlns:p14="http://schemas.microsoft.com/office/powerpoint/2010/main" val="1404893422"/>
      </p:ext>
    </p:extLst>
  </p:cSld>
</p:sld>
</file>

<file path=ppt/slides/slide1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F9D606C-5393-4533-B3FD-F1C019B5984C}"/>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D3B"/>
                </a:solidFill>
                <a:latin typeface="Aptos"/>
                <a:ea typeface="Aptos"/>
                <a:cs typeface="Aptos"/>
              </a:defRPr>
            </a:pPr>
            <a:r>
              <a:rPr sz="3450" b="1">
                <a:solidFill>
                  <a:srgbClr val="152D3B"/>
                </a:solidFill>
                <a:latin typeface="Aptos"/>
                <a:ea typeface="Aptos"/>
                <a:cs typeface="Aptos"/>
              </a:rPr>
              <a:t>What the model protects</a:t>
            </a:r>
          </a:p>
        </p:txBody>
      </p:sp>
      <p:sp>
        <p:nvSpPr>
          <p:cNvPr id="2" name="">
            <a:extLst xmlns:a="http://schemas.openxmlformats.org/drawingml/2006/main">
              <a:ext uri="{FF2B5EF4-FFF2-40B4-BE49-F238E27FC236}">
                <a16:creationId xmlns:a16="http://schemas.microsoft.com/office/drawing/2014/main" id="{91641D32-12B5-4F7D-AF0F-52B04ACCE8B7}"/>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C78"/>
                </a:solidFill>
                <a:latin typeface="Aptos"/>
                <a:ea typeface="Aptos"/>
                <a:cs typeface="Aptos"/>
              </a:defRPr>
            </a:pPr>
            <a:r>
              <a:rPr sz="1350" b="0">
                <a:solidFill>
                  <a:srgbClr val="566C78"/>
                </a:solidFill>
                <a:latin typeface="Aptos"/>
                <a:ea typeface="Aptos"/>
                <a:cs typeface="Aptos"/>
              </a:rPr>
              <a:t>10</a:t>
            </a:r>
          </a:p>
        </p:txBody>
      </p:sp>
      <p:graphicFrame>
        <p:nvGraphicFramePr>
          <p:cNvPr id="6" name=""/>
          <p:cNvGraphicFramePr/>
          <p:nvPr/>
        </p:nvGraphicFramePr>
        <p:xfrm>
          <a:off xmlns:a="http://schemas.openxmlformats.org/drawingml/2006/main" x="609600" y="1524000"/>
          <a:ext xmlns:a="http://schemas.openxmlformats.org/drawingml/2006/main" cx="10972800" cy="4333875"/>
        </p:xfrm>
        <a:graphic xmlns:a="http://schemas.openxmlformats.org/drawingml/2006/main">
          <a:graphicData uri="http://schemas.openxmlformats.org/drawingml/2006/table">
            <a:tbl>
              <a:tblPr/>
              <a:tblGrid>
                <a:gridCol w="3657600"/>
                <a:gridCol w="3657600"/>
                <a:gridCol w="3657600"/>
              </a:tblGrid>
              <a:tr h="481542">
                <a:tc>
                  <a:txBody>
                    <a:bodyPr/>
                    <a:lstStyle/>
                    <a:p>
                      <a:r>
                        <a:rPr sz="1725" b="1">
                          <a:solidFill>
                            <a:srgbClr val="F5F4EF"/>
                          </a:solidFill>
                          <a:latin typeface="Aptos"/>
                          <a:ea typeface="Aptos"/>
                          <a:cs typeface="Aptos"/>
                        </a:rPr>
                        <a:t>Task</a:t>
                      </a:r>
                    </a:p>
                  </a:txBody>
                  <a:tcPr marL="91440" marR="91440" marT="45720" marB="45720">
                    <a:solidFill>
                      <a:srgbClr val="102331"/>
                    </a:solidFill>
                  </a:tcPr>
                </a:tc>
                <a:tc>
                  <a:txBody>
                    <a:bodyPr/>
                    <a:lstStyle/>
                    <a:p>
                      <a:r>
                        <a:rPr sz="1725" b="1">
                          <a:solidFill>
                            <a:srgbClr val="F5F4EF"/>
                          </a:solidFill>
                          <a:latin typeface="Aptos"/>
                          <a:ea typeface="Aptos"/>
                          <a:cs typeface="Aptos"/>
                        </a:rPr>
                        <a:t>Optimized / target slots</a:t>
                      </a:r>
                    </a:p>
                  </a:txBody>
                  <a:tcPr marL="91440" marR="91440" marT="45720" marB="45720">
                    <a:solidFill>
                      <a:srgbClr val="102331"/>
                    </a:solidFill>
                  </a:tcPr>
                </a:tc>
                <a:tc>
                  <a:txBody>
                    <a:bodyPr/>
                    <a:lstStyle/>
                    <a:p>
                      <a:r>
                        <a:rPr sz="1725" b="1">
                          <a:solidFill>
                            <a:srgbClr val="F5F4EF"/>
                          </a:solidFill>
                          <a:latin typeface="Aptos"/>
                          <a:ea typeface="Aptos"/>
                          <a:cs typeface="Aptos"/>
                        </a:rPr>
                        <a:t>Modeled value</a:t>
                      </a:r>
                    </a:p>
                  </a:txBody>
                  <a:tcPr marL="91440" marR="91440" marT="45720" marB="45720">
                    <a:solidFill>
                      <a:srgbClr val="102331"/>
                    </a:solidFill>
                  </a:tcPr>
                </a:tc>
              </a:tr>
              <a:tr h="481542">
                <a:tc>
                  <a:txBody>
                    <a:bodyPr/>
                    <a:lstStyle/>
                    <a:p>
                      <a:r>
                        <a:rPr sz="1725" b="0">
                          <a:solidFill>
                            <a:srgbClr val="152D3B"/>
                          </a:solidFill>
                          <a:latin typeface="Aptos"/>
                          <a:ea typeface="Aptos"/>
                          <a:cs typeface="Aptos"/>
                        </a:rPr>
                        <a:t>A  Reading response</a:t>
                      </a:r>
                    </a:p>
                  </a:txBody>
                  <a:tcPr marL="91440" marR="91440" marT="45720" marB="45720">
                    <a:solidFill>
                      <a:srgbClr val="FFFFFF"/>
                    </a:solidFill>
                  </a:tcPr>
                </a:tc>
                <a:tc>
                  <a:txBody>
                    <a:bodyPr/>
                    <a:lstStyle/>
                    <a:p>
                      <a:r>
                        <a:rPr sz="1725" b="0">
                          <a:solidFill>
                            <a:srgbClr val="152D3B"/>
                          </a:solidFill>
                          <a:latin typeface="Aptos"/>
                          <a:ea typeface="Aptos"/>
                          <a:cs typeface="Aptos"/>
                        </a:rPr>
                        <a:t>0 / 4</a:t>
                      </a:r>
                    </a:p>
                  </a:txBody>
                  <a:tcPr marL="91440" marR="91440" marT="45720" marB="45720">
                    <a:solidFill>
                      <a:srgbClr val="FFFFFF"/>
                    </a:solidFill>
                  </a:tcPr>
                </a:tc>
                <a:tc>
                  <a:txBody>
                    <a:bodyPr/>
                    <a:lstStyle/>
                    <a:p>
                      <a:r>
                        <a:rPr sz="1725" b="0">
                          <a:solidFill>
                            <a:srgbClr val="152D3B"/>
                          </a:solidFill>
                          <a:latin typeface="Aptos"/>
                          <a:ea typeface="Aptos"/>
                          <a:cs typeface="Aptos"/>
                        </a:rPr>
                        <a:t>0</a:t>
                      </a:r>
                    </a:p>
                  </a:txBody>
                  <a:tcPr marL="91440" marR="91440" marT="45720" marB="45720">
                    <a:solidFill>
                      <a:srgbClr val="FFFFFF"/>
                    </a:solidFill>
                  </a:tcPr>
                </a:tc>
              </a:tr>
              <a:tr h="481542">
                <a:tc>
                  <a:txBody>
                    <a:bodyPr/>
                    <a:lstStyle/>
                    <a:p>
                      <a:r>
                        <a:rPr sz="1725" b="0">
                          <a:solidFill>
                            <a:srgbClr val="152D3B"/>
                          </a:solidFill>
                          <a:latin typeface="Aptos"/>
                          <a:ea typeface="Aptos"/>
                          <a:cs typeface="Aptos"/>
                        </a:rPr>
                        <a:t>B  Mechanics homework</a:t>
                      </a:r>
                    </a:p>
                  </a:txBody>
                  <a:tcPr marL="91440" marR="91440" marT="45720" marB="45720">
                    <a:solidFill>
                      <a:srgbClr val="E9EEEA"/>
                    </a:solidFill>
                  </a:tcPr>
                </a:tc>
                <a:tc>
                  <a:txBody>
                    <a:bodyPr/>
                    <a:lstStyle/>
                    <a:p>
                      <a:r>
                        <a:rPr sz="1725" b="0">
                          <a:solidFill>
                            <a:srgbClr val="152D3B"/>
                          </a:solidFill>
                          <a:latin typeface="Aptos"/>
                          <a:ea typeface="Aptos"/>
                          <a:cs typeface="Aptos"/>
                        </a:rPr>
                        <a:t>0 / 6</a:t>
                      </a:r>
                    </a:p>
                  </a:txBody>
                  <a:tcPr marL="91440" marR="91440" marT="45720" marB="45720">
                    <a:solidFill>
                      <a:srgbClr val="E9EEEA"/>
                    </a:solidFill>
                  </a:tcPr>
                </a:tc>
                <a:tc>
                  <a:txBody>
                    <a:bodyPr/>
                    <a:lstStyle/>
                    <a:p>
                      <a:r>
                        <a:rPr sz="1725" b="0">
                          <a:solidFill>
                            <a:srgbClr val="152D3B"/>
                          </a:solidFill>
                          <a:latin typeface="Aptos"/>
                          <a:ea typeface="Aptos"/>
                          <a:cs typeface="Aptos"/>
                        </a:rPr>
                        <a:t>0</a:t>
                      </a:r>
                    </a:p>
                  </a:txBody>
                  <a:tcPr marL="91440" marR="91440" marT="45720" marB="45720">
                    <a:solidFill>
                      <a:srgbClr val="E9EEEA"/>
                    </a:solidFill>
                  </a:tcPr>
                </a:tc>
              </a:tr>
              <a:tr h="481542">
                <a:tc>
                  <a:txBody>
                    <a:bodyPr/>
                    <a:lstStyle/>
                    <a:p>
                      <a:r>
                        <a:rPr sz="1725" b="0">
                          <a:solidFill>
                            <a:srgbClr val="152D3B"/>
                          </a:solidFill>
                          <a:latin typeface="Aptos"/>
                          <a:ea typeface="Aptos"/>
                          <a:cs typeface="Aptos"/>
                        </a:rPr>
                        <a:t>C  Fluid mechanics exam prep</a:t>
                      </a:r>
                    </a:p>
                  </a:txBody>
                  <a:tcPr marL="91440" marR="91440" marT="45720" marB="45720">
                    <a:solidFill>
                      <a:srgbClr val="FFFFFF"/>
                    </a:solidFill>
                  </a:tcPr>
                </a:tc>
                <a:tc>
                  <a:txBody>
                    <a:bodyPr/>
                    <a:lstStyle/>
                    <a:p>
                      <a:r>
                        <a:rPr sz="1725" b="0">
                          <a:solidFill>
                            <a:srgbClr val="152D3B"/>
                          </a:solidFill>
                          <a:latin typeface="Aptos"/>
                          <a:ea typeface="Aptos"/>
                          <a:cs typeface="Aptos"/>
                        </a:rPr>
                        <a:t>8 / 8</a:t>
                      </a:r>
                    </a:p>
                  </a:txBody>
                  <a:tcPr marL="91440" marR="91440" marT="45720" marB="45720">
                    <a:solidFill>
                      <a:srgbClr val="FFFFFF"/>
                    </a:solidFill>
                  </a:tcPr>
                </a:tc>
                <a:tc>
                  <a:txBody>
                    <a:bodyPr/>
                    <a:lstStyle/>
                    <a:p>
                      <a:r>
                        <a:rPr sz="1725" b="0">
                          <a:solidFill>
                            <a:srgbClr val="152D3B"/>
                          </a:solidFill>
                          <a:latin typeface="Aptos"/>
                          <a:ea typeface="Aptos"/>
                          <a:cs typeface="Aptos"/>
                        </a:rPr>
                        <a:t>16</a:t>
                      </a:r>
                    </a:p>
                  </a:txBody>
                  <a:tcPr marL="91440" marR="91440" marT="45720" marB="45720">
                    <a:solidFill>
                      <a:srgbClr val="FFFFFF"/>
                    </a:solidFill>
                  </a:tcPr>
                </a:tc>
              </a:tr>
              <a:tr h="481542">
                <a:tc>
                  <a:txBody>
                    <a:bodyPr/>
                    <a:lstStyle/>
                    <a:p>
                      <a:r>
                        <a:rPr sz="1725" b="0">
                          <a:solidFill>
                            <a:srgbClr val="152D3B"/>
                          </a:solidFill>
                          <a:latin typeface="Aptos"/>
                          <a:ea typeface="Aptos"/>
                          <a:cs typeface="Aptos"/>
                        </a:rPr>
                        <a:t>D  Lab report</a:t>
                      </a:r>
                    </a:p>
                  </a:txBody>
                  <a:tcPr marL="91440" marR="91440" marT="45720" marB="45720">
                    <a:solidFill>
                      <a:srgbClr val="E9EEEA"/>
                    </a:solidFill>
                  </a:tcPr>
                </a:tc>
                <a:tc>
                  <a:txBody>
                    <a:bodyPr/>
                    <a:lstStyle/>
                    <a:p>
                      <a:r>
                        <a:rPr sz="1725" b="0">
                          <a:solidFill>
                            <a:srgbClr val="152D3B"/>
                          </a:solidFill>
                          <a:latin typeface="Aptos"/>
                          <a:ea typeface="Aptos"/>
                          <a:cs typeface="Aptos"/>
                        </a:rPr>
                        <a:t>6 / 6</a:t>
                      </a:r>
                    </a:p>
                  </a:txBody>
                  <a:tcPr marL="91440" marR="91440" marT="45720" marB="45720">
                    <a:solidFill>
                      <a:srgbClr val="E9EEEA"/>
                    </a:solidFill>
                  </a:tcPr>
                </a:tc>
                <a:tc>
                  <a:txBody>
                    <a:bodyPr/>
                    <a:lstStyle/>
                    <a:p>
                      <a:r>
                        <a:rPr sz="1725" b="0">
                          <a:solidFill>
                            <a:srgbClr val="152D3B"/>
                          </a:solidFill>
                          <a:latin typeface="Aptos"/>
                          <a:ea typeface="Aptos"/>
                          <a:cs typeface="Aptos"/>
                        </a:rPr>
                        <a:t>15</a:t>
                      </a:r>
                    </a:p>
                  </a:txBody>
                  <a:tcPr marL="91440" marR="91440" marT="45720" marB="45720">
                    <a:solidFill>
                      <a:srgbClr val="E9EEEA"/>
                    </a:solidFill>
                  </a:tcPr>
                </a:tc>
              </a:tr>
              <a:tr h="481542">
                <a:tc>
                  <a:txBody>
                    <a:bodyPr/>
                    <a:lstStyle/>
                    <a:p>
                      <a:r>
                        <a:rPr sz="1725" b="0">
                          <a:solidFill>
                            <a:srgbClr val="152D3B"/>
                          </a:solidFill>
                          <a:latin typeface="Aptos"/>
                          <a:ea typeface="Aptos"/>
                          <a:cs typeface="Aptos"/>
                        </a:rPr>
                        <a:t>E  Design project milestone</a:t>
                      </a:r>
                    </a:p>
                  </a:txBody>
                  <a:tcPr marL="91440" marR="91440" marT="45720" marB="45720">
                    <a:solidFill>
                      <a:srgbClr val="FFFFFF"/>
                    </a:solidFill>
                  </a:tcPr>
                </a:tc>
                <a:tc>
                  <a:txBody>
                    <a:bodyPr/>
                    <a:lstStyle/>
                    <a:p>
                      <a:r>
                        <a:rPr sz="1725" b="0">
                          <a:solidFill>
                            <a:srgbClr val="152D3B"/>
                          </a:solidFill>
                          <a:latin typeface="Aptos"/>
                          <a:ea typeface="Aptos"/>
                          <a:cs typeface="Aptos"/>
                        </a:rPr>
                        <a:t>8 / 8</a:t>
                      </a:r>
                    </a:p>
                  </a:txBody>
                  <a:tcPr marL="91440" marR="91440" marT="45720" marB="45720">
                    <a:solidFill>
                      <a:srgbClr val="FFFFFF"/>
                    </a:solidFill>
                  </a:tcPr>
                </a:tc>
                <a:tc>
                  <a:txBody>
                    <a:bodyPr/>
                    <a:lstStyle/>
                    <a:p>
                      <a:r>
                        <a:rPr sz="1725" b="0">
                          <a:solidFill>
                            <a:srgbClr val="152D3B"/>
                          </a:solidFill>
                          <a:latin typeface="Aptos"/>
                          <a:ea typeface="Aptos"/>
                          <a:cs typeface="Aptos"/>
                        </a:rPr>
                        <a:t>24</a:t>
                      </a:r>
                    </a:p>
                  </a:txBody>
                  <a:tcPr marL="91440" marR="91440" marT="45720" marB="45720">
                    <a:solidFill>
                      <a:srgbClr val="FFFFFF"/>
                    </a:solidFill>
                  </a:tcPr>
                </a:tc>
              </a:tr>
              <a:tr h="481542">
                <a:tc>
                  <a:txBody>
                    <a:bodyPr/>
                    <a:lstStyle/>
                    <a:p>
                      <a:r>
                        <a:rPr sz="1725" b="0">
                          <a:solidFill>
                            <a:srgbClr val="152D3B"/>
                          </a:solidFill>
                          <a:latin typeface="Aptos"/>
                          <a:ea typeface="Aptos"/>
                          <a:cs typeface="Aptos"/>
                        </a:rPr>
                        <a:t>F  Math exam prep</a:t>
                      </a:r>
                    </a:p>
                  </a:txBody>
                  <a:tcPr marL="91440" marR="91440" marT="45720" marB="45720">
                    <a:solidFill>
                      <a:srgbClr val="E9EEEA"/>
                    </a:solidFill>
                  </a:tcPr>
                </a:tc>
                <a:tc>
                  <a:txBody>
                    <a:bodyPr/>
                    <a:lstStyle/>
                    <a:p>
                      <a:r>
                        <a:rPr sz="1725" b="0">
                          <a:solidFill>
                            <a:srgbClr val="152D3B"/>
                          </a:solidFill>
                          <a:latin typeface="Aptos"/>
                          <a:ea typeface="Aptos"/>
                          <a:cs typeface="Aptos"/>
                        </a:rPr>
                        <a:t>4 / 6</a:t>
                      </a:r>
                    </a:p>
                  </a:txBody>
                  <a:tcPr marL="91440" marR="91440" marT="45720" marB="45720">
                    <a:solidFill>
                      <a:srgbClr val="E9EEEA"/>
                    </a:solidFill>
                  </a:tcPr>
                </a:tc>
                <a:tc>
                  <a:txBody>
                    <a:bodyPr/>
                    <a:lstStyle/>
                    <a:p>
                      <a:r>
                        <a:rPr sz="1725" b="0">
                          <a:solidFill>
                            <a:srgbClr val="152D3B"/>
                          </a:solidFill>
                          <a:latin typeface="Aptos"/>
                          <a:ea typeface="Aptos"/>
                          <a:cs typeface="Aptos"/>
                        </a:rPr>
                        <a:t>8</a:t>
                      </a:r>
                    </a:p>
                  </a:txBody>
                  <a:tcPr marL="91440" marR="91440" marT="45720" marB="45720">
                    <a:solidFill>
                      <a:srgbClr val="E9EEEA"/>
                    </a:solidFill>
                  </a:tcPr>
                </a:tc>
              </a:tr>
              <a:tr h="481542">
                <a:tc>
                  <a:txBody>
                    <a:bodyPr/>
                    <a:lstStyle/>
                    <a:p>
                      <a:r>
                        <a:rPr sz="1725" b="0">
                          <a:solidFill>
                            <a:srgbClr val="152D3B"/>
                          </a:solidFill>
                          <a:latin typeface="Aptos"/>
                          <a:ea typeface="Aptos"/>
                          <a:cs typeface="Aptos"/>
                        </a:rPr>
                        <a:t>G  Weekly reflection</a:t>
                      </a:r>
                    </a:p>
                  </a:txBody>
                  <a:tcPr marL="91440" marR="91440" marT="45720" marB="45720">
                    <a:solidFill>
                      <a:srgbClr val="FFFFFF"/>
                    </a:solidFill>
                  </a:tcPr>
                </a:tc>
                <a:tc>
                  <a:txBody>
                    <a:bodyPr/>
                    <a:lstStyle/>
                    <a:p>
                      <a:r>
                        <a:rPr sz="1725" b="0">
                          <a:solidFill>
                            <a:srgbClr val="152D3B"/>
                          </a:solidFill>
                          <a:latin typeface="Aptos"/>
                          <a:ea typeface="Aptos"/>
                          <a:cs typeface="Aptos"/>
                        </a:rPr>
                        <a:t>0 / 2</a:t>
                      </a:r>
                    </a:p>
                  </a:txBody>
                  <a:tcPr marL="91440" marR="91440" marT="45720" marB="45720">
                    <a:solidFill>
                      <a:srgbClr val="FFFFFF"/>
                    </a:solidFill>
                  </a:tcPr>
                </a:tc>
                <a:tc>
                  <a:txBody>
                    <a:bodyPr/>
                    <a:lstStyle/>
                    <a:p>
                      <a:r>
                        <a:rPr sz="1725" b="0">
                          <a:solidFill>
                            <a:srgbClr val="152D3B"/>
                          </a:solidFill>
                          <a:latin typeface="Aptos"/>
                          <a:ea typeface="Aptos"/>
                          <a:cs typeface="Aptos"/>
                        </a:rPr>
                        <a:t>0</a:t>
                      </a:r>
                    </a:p>
                  </a:txBody>
                  <a:tcPr marL="91440" marR="91440" marT="45720" marB="45720">
                    <a:solidFill>
                      <a:srgbClr val="FFFFFF"/>
                    </a:solidFill>
                  </a:tcPr>
                </a:tc>
              </a:tr>
              <a:tr h="481542">
                <a:tc>
                  <a:txBody>
                    <a:bodyPr/>
                    <a:lstStyle/>
                    <a:p>
                      <a:r>
                        <a:rPr sz="1725" b="0">
                          <a:solidFill>
                            <a:srgbClr val="152D3B"/>
                          </a:solidFill>
                          <a:latin typeface="Aptos"/>
                          <a:ea typeface="Aptos"/>
                          <a:cs typeface="Aptos"/>
                        </a:rPr>
                        <a:t>H  Statistics exam prep</a:t>
                      </a:r>
                    </a:p>
                  </a:txBody>
                  <a:tcPr marL="91440" marR="91440" marT="45720" marB="45720">
                    <a:solidFill>
                      <a:srgbClr val="E9EEEA"/>
                    </a:solidFill>
                  </a:tcPr>
                </a:tc>
                <a:tc>
                  <a:txBody>
                    <a:bodyPr/>
                    <a:lstStyle/>
                    <a:p>
                      <a:r>
                        <a:rPr sz="1725" b="0">
                          <a:solidFill>
                            <a:srgbClr val="152D3B"/>
                          </a:solidFill>
                          <a:latin typeface="Aptos"/>
                          <a:ea typeface="Aptos"/>
                          <a:cs typeface="Aptos"/>
                        </a:rPr>
                        <a:t>2 / 4</a:t>
                      </a:r>
                    </a:p>
                  </a:txBody>
                  <a:tcPr marL="91440" marR="91440" marT="45720" marB="45720">
                    <a:solidFill>
                      <a:srgbClr val="E9EEEA"/>
                    </a:solidFill>
                  </a:tcPr>
                </a:tc>
                <a:tc>
                  <a:txBody>
                    <a:bodyPr/>
                    <a:lstStyle/>
                    <a:p>
                      <a:r>
                        <a:rPr sz="1725" b="0">
                          <a:solidFill>
                            <a:srgbClr val="152D3B"/>
                          </a:solidFill>
                          <a:latin typeface="Aptos"/>
                          <a:ea typeface="Aptos"/>
                          <a:cs typeface="Aptos"/>
                        </a:rPr>
                        <a:t>4</a:t>
                      </a:r>
                    </a:p>
                  </a:txBody>
                  <a:tcPr marL="91440" marR="91440" marT="45720" marB="45720">
                    <a:solidFill>
                      <a:srgbClr val="E9EEEA"/>
                    </a:solidFill>
                  </a:tcPr>
                </a:tc>
              </a:tr>
            </a:tbl>
          </a:graphicData>
        </a:graphic>
      </p:graphicFrame>
    </p:spTree>
    <p:extLst>
      <p:ext uri="{BB962C8B-B14F-4D97-AF65-F5344CB8AC3E}">
        <p14:creationId xmlns:p14="http://schemas.microsoft.com/office/powerpoint/2010/main" val="782425374"/>
      </p:ext>
    </p:extLst>
  </p:cSld>
</p:sld>
</file>

<file path=ppt/slides/slide1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CCCBA7-299B-4477-90F4-968A876FA172}"/>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D3B"/>
                </a:solidFill>
                <a:latin typeface="Aptos"/>
                <a:ea typeface="Aptos"/>
                <a:cs typeface="Aptos"/>
              </a:defRPr>
            </a:pPr>
            <a:r>
              <a:rPr sz="3450" b="1">
                <a:solidFill>
                  <a:srgbClr val="152D3B"/>
                </a:solidFill>
                <a:latin typeface="Aptos"/>
                <a:ea typeface="Aptos"/>
                <a:cs typeface="Aptos"/>
              </a:rPr>
              <a:t>The returned weekly calendar</a:t>
            </a:r>
          </a:p>
        </p:txBody>
      </p:sp>
      <p:sp>
        <p:nvSpPr>
          <p:cNvPr id="2" name="">
            <a:extLst xmlns:a="http://schemas.openxmlformats.org/drawingml/2006/main">
              <a:ext uri="{FF2B5EF4-FFF2-40B4-BE49-F238E27FC236}">
                <a16:creationId xmlns:a16="http://schemas.microsoft.com/office/drawing/2014/main" id="{B2251D5F-0C67-4C75-8F88-CB679CA1BD0B}"/>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C78"/>
                </a:solidFill>
                <a:latin typeface="Aptos"/>
                <a:ea typeface="Aptos"/>
                <a:cs typeface="Aptos"/>
              </a:defRPr>
            </a:pPr>
            <a:r>
              <a:rPr sz="1350" b="0">
                <a:solidFill>
                  <a:srgbClr val="566C78"/>
                </a:solidFill>
                <a:latin typeface="Aptos"/>
                <a:ea typeface="Aptos"/>
                <a:cs typeface="Aptos"/>
              </a:rPr>
              <a:t>11</a:t>
            </a:r>
          </a:p>
        </p:txBody>
      </p:sp>
      <p:graphicFrame>
        <p:nvGraphicFramePr>
          <p:cNvPr id="7" name=""/>
          <p:cNvGraphicFramePr/>
          <p:nvPr/>
        </p:nvGraphicFramePr>
        <p:xfrm>
          <a:off xmlns:a="http://schemas.openxmlformats.org/drawingml/2006/main" x="609600" y="1571625"/>
          <a:ext xmlns:a="http://schemas.openxmlformats.org/drawingml/2006/main" cx="10972800" cy="3714750"/>
        </p:xfrm>
        <a:graphic xmlns:a="http://schemas.openxmlformats.org/drawingml/2006/main">
          <a:graphicData uri="http://schemas.openxmlformats.org/drawingml/2006/table">
            <a:tbl>
              <a:tblPr/>
              <a:tblGrid>
                <a:gridCol w="2194560"/>
                <a:gridCol w="2194560"/>
                <a:gridCol w="2194560"/>
                <a:gridCol w="2194560"/>
                <a:gridCol w="2194560"/>
              </a:tblGrid>
              <a:tr h="464344">
                <a:tc>
                  <a:txBody>
                    <a:bodyPr/>
                    <a:lstStyle/>
                    <a:p>
                      <a:r>
                        <a:rPr sz="1950" b="1">
                          <a:solidFill>
                            <a:srgbClr val="F5F4EF"/>
                          </a:solidFill>
                          <a:latin typeface="Aptos"/>
                          <a:ea typeface="Aptos"/>
                          <a:cs typeface="Aptos"/>
                        </a:rPr>
                        <a:t>Day</a:t>
                      </a:r>
                    </a:p>
                  </a:txBody>
                  <a:tcPr marL="91440" marR="91440" marT="45720" marB="45720">
                    <a:solidFill>
                      <a:srgbClr val="102331"/>
                    </a:solidFill>
                  </a:tcPr>
                </a:tc>
                <a:tc>
                  <a:txBody>
                    <a:bodyPr/>
                    <a:lstStyle/>
                    <a:p>
                      <a:r>
                        <a:rPr sz="1950" b="1">
                          <a:solidFill>
                            <a:srgbClr val="F5F4EF"/>
                          </a:solidFill>
                          <a:latin typeface="Aptos"/>
                          <a:ea typeface="Aptos"/>
                          <a:cs typeface="Aptos"/>
                        </a:rPr>
                        <a:t>18:00</a:t>
                      </a:r>
                    </a:p>
                  </a:txBody>
                  <a:tcPr marL="91440" marR="91440" marT="45720" marB="45720">
                    <a:solidFill>
                      <a:srgbClr val="102331"/>
                    </a:solidFill>
                  </a:tcPr>
                </a:tc>
                <a:tc>
                  <a:txBody>
                    <a:bodyPr/>
                    <a:lstStyle/>
                    <a:p>
                      <a:r>
                        <a:rPr sz="1950" b="1">
                          <a:solidFill>
                            <a:srgbClr val="F5F4EF"/>
                          </a:solidFill>
                          <a:latin typeface="Aptos"/>
                          <a:ea typeface="Aptos"/>
                          <a:cs typeface="Aptos"/>
                        </a:rPr>
                        <a:t>18:30</a:t>
                      </a:r>
                    </a:p>
                  </a:txBody>
                  <a:tcPr marL="91440" marR="91440" marT="45720" marB="45720">
                    <a:solidFill>
                      <a:srgbClr val="102331"/>
                    </a:solidFill>
                  </a:tcPr>
                </a:tc>
                <a:tc>
                  <a:txBody>
                    <a:bodyPr/>
                    <a:lstStyle/>
                    <a:p>
                      <a:r>
                        <a:rPr sz="1950" b="1">
                          <a:solidFill>
                            <a:srgbClr val="F5F4EF"/>
                          </a:solidFill>
                          <a:latin typeface="Aptos"/>
                          <a:ea typeface="Aptos"/>
                          <a:cs typeface="Aptos"/>
                        </a:rPr>
                        <a:t>19:00</a:t>
                      </a:r>
                    </a:p>
                  </a:txBody>
                  <a:tcPr marL="91440" marR="91440" marT="45720" marB="45720">
                    <a:solidFill>
                      <a:srgbClr val="102331"/>
                    </a:solidFill>
                  </a:tcPr>
                </a:tc>
                <a:tc>
                  <a:txBody>
                    <a:bodyPr/>
                    <a:lstStyle/>
                    <a:p>
                      <a:r>
                        <a:rPr sz="1950" b="1">
                          <a:solidFill>
                            <a:srgbClr val="F5F4EF"/>
                          </a:solidFill>
                          <a:latin typeface="Aptos"/>
                          <a:ea typeface="Aptos"/>
                          <a:cs typeface="Aptos"/>
                        </a:rPr>
                        <a:t>19:30</a:t>
                      </a:r>
                    </a:p>
                  </a:txBody>
                  <a:tcPr marL="91440" marR="91440" marT="45720" marB="45720">
                    <a:solidFill>
                      <a:srgbClr val="102331"/>
                    </a:solidFill>
                  </a:tcPr>
                </a:tc>
              </a:tr>
              <a:tr h="464344">
                <a:tc>
                  <a:txBody>
                    <a:bodyPr/>
                    <a:lstStyle/>
                    <a:p>
                      <a:r>
                        <a:rPr sz="1950" b="0">
                          <a:solidFill>
                            <a:srgbClr val="152D3B"/>
                          </a:solidFill>
                          <a:latin typeface="Aptos"/>
                          <a:ea typeface="Aptos"/>
                          <a:cs typeface="Aptos"/>
                        </a:rPr>
                        <a:t>Mon</a:t>
                      </a:r>
                    </a:p>
                  </a:txBody>
                  <a:tcPr marL="91440" marR="91440" marT="45720" marB="45720">
                    <a:solidFill>
                      <a:srgbClr val="FFFFFF"/>
                    </a:solidFill>
                  </a:tcPr>
                </a:tc>
                <a:tc>
                  <a:txBody>
                    <a:bodyPr/>
                    <a:lstStyle/>
                    <a:p>
                      <a:r>
                        <a:rPr sz="1950" b="0">
                          <a:solidFill>
                            <a:srgbClr val="152D3B"/>
                          </a:solidFill>
                          <a:latin typeface="Aptos"/>
                          <a:ea typeface="Aptos"/>
                          <a:cs typeface="Aptos"/>
                        </a:rPr>
                        <a:t>C</a:t>
                      </a:r>
                    </a:p>
                  </a:txBody>
                  <a:tcPr marL="91440" marR="91440" marT="45720" marB="45720">
                    <a:solidFill>
                      <a:srgbClr val="FFFFFF"/>
                    </a:solidFill>
                  </a:tcPr>
                </a:tc>
                <a:tc>
                  <a:txBody>
                    <a:bodyPr/>
                    <a:lstStyle/>
                    <a:p>
                      <a:r>
                        <a:rPr sz="1950" b="0">
                          <a:solidFill>
                            <a:srgbClr val="152D3B"/>
                          </a:solidFill>
                          <a:latin typeface="Aptos"/>
                          <a:ea typeface="Aptos"/>
                          <a:cs typeface="Aptos"/>
                        </a:rPr>
                        <a:t>C</a:t>
                      </a:r>
                    </a:p>
                  </a:txBody>
                  <a:tcPr marL="91440" marR="91440" marT="45720" marB="45720">
                    <a:solidFill>
                      <a:srgbClr val="FFFFFF"/>
                    </a:solidFill>
                  </a:tcPr>
                </a:tc>
                <a:tc>
                  <a:txBody>
                    <a:bodyPr/>
                    <a:lstStyle/>
                    <a:p>
                      <a:r>
                        <a:rPr sz="1950" b="0">
                          <a:solidFill>
                            <a:srgbClr val="152D3B"/>
                          </a:solidFill>
                          <a:latin typeface="Aptos"/>
                          <a:ea typeface="Aptos"/>
                          <a:cs typeface="Aptos"/>
                        </a:rPr>
                        <a:t>C</a:t>
                      </a:r>
                    </a:p>
                  </a:txBody>
                  <a:tcPr marL="91440" marR="91440" marT="45720" marB="45720">
                    <a:solidFill>
                      <a:srgbClr val="FFFFFF"/>
                    </a:solidFill>
                  </a:tcPr>
                </a:tc>
                <a:tc>
                  <a:txBody>
                    <a:bodyPr/>
                    <a:lstStyle/>
                    <a:p>
                      <a:r>
                        <a:rPr sz="1950" b="0">
                          <a:solidFill>
                            <a:srgbClr val="152D3B"/>
                          </a:solidFill>
                          <a:latin typeface="Aptos"/>
                          <a:ea typeface="Aptos"/>
                          <a:cs typeface="Aptos"/>
                        </a:rPr>
                        <a:t>C</a:t>
                      </a:r>
                    </a:p>
                  </a:txBody>
                  <a:tcPr marL="91440" marR="91440" marT="45720" marB="45720">
                    <a:solidFill>
                      <a:srgbClr val="FFFFFF"/>
                    </a:solidFill>
                  </a:tcPr>
                </a:tc>
              </a:tr>
              <a:tr h="464344">
                <a:tc>
                  <a:txBody>
                    <a:bodyPr/>
                    <a:lstStyle/>
                    <a:p>
                      <a:r>
                        <a:rPr sz="1950" b="0">
                          <a:solidFill>
                            <a:srgbClr val="152D3B"/>
                          </a:solidFill>
                          <a:latin typeface="Aptos"/>
                          <a:ea typeface="Aptos"/>
                          <a:cs typeface="Aptos"/>
                        </a:rPr>
                        <a:t>Tue</a:t>
                      </a:r>
                    </a:p>
                  </a:txBody>
                  <a:tcPr marL="91440" marR="91440" marT="45720" marB="45720">
                    <a:solidFill>
                      <a:srgbClr val="E9EEEA"/>
                    </a:solidFill>
                  </a:tcPr>
                </a:tc>
                <a:tc>
                  <a:txBody>
                    <a:bodyPr/>
                    <a:lstStyle/>
                    <a:p>
                      <a:r>
                        <a:rPr sz="1950" b="0">
                          <a:solidFill>
                            <a:srgbClr val="152D3B"/>
                          </a:solidFill>
                          <a:latin typeface="Aptos"/>
                          <a:ea typeface="Aptos"/>
                          <a:cs typeface="Aptos"/>
                        </a:rPr>
                        <a:t>C</a:t>
                      </a:r>
                    </a:p>
                  </a:txBody>
                  <a:tcPr marL="91440" marR="91440" marT="45720" marB="45720">
                    <a:solidFill>
                      <a:srgbClr val="E9EEEA"/>
                    </a:solidFill>
                  </a:tcPr>
                </a:tc>
                <a:tc>
                  <a:txBody>
                    <a:bodyPr/>
                    <a:lstStyle/>
                    <a:p>
                      <a:r>
                        <a:rPr sz="1950" b="0">
                          <a:solidFill>
                            <a:srgbClr val="152D3B"/>
                          </a:solidFill>
                          <a:latin typeface="Aptos"/>
                          <a:ea typeface="Aptos"/>
                          <a:cs typeface="Aptos"/>
                        </a:rPr>
                        <a:t>C</a:t>
                      </a:r>
                    </a:p>
                  </a:txBody>
                  <a:tcPr marL="91440" marR="91440" marT="45720" marB="45720">
                    <a:solidFill>
                      <a:srgbClr val="E9EEEA"/>
                    </a:solidFill>
                  </a:tcPr>
                </a:tc>
                <a:tc>
                  <a:txBody>
                    <a:bodyPr/>
                    <a:lstStyle/>
                    <a:p>
                      <a:r>
                        <a:rPr sz="1950" b="0">
                          <a:solidFill>
                            <a:srgbClr val="152D3B"/>
                          </a:solidFill>
                          <a:latin typeface="Aptos"/>
                          <a:ea typeface="Aptos"/>
                          <a:cs typeface="Aptos"/>
                        </a:rPr>
                        <a:t>C</a:t>
                      </a:r>
                    </a:p>
                  </a:txBody>
                  <a:tcPr marL="91440" marR="91440" marT="45720" marB="45720">
                    <a:solidFill>
                      <a:srgbClr val="E9EEEA"/>
                    </a:solidFill>
                  </a:tcPr>
                </a:tc>
                <a:tc>
                  <a:txBody>
                    <a:bodyPr/>
                    <a:lstStyle/>
                    <a:p>
                      <a:r>
                        <a:rPr sz="1950" b="0">
                          <a:solidFill>
                            <a:srgbClr val="152D3B"/>
                          </a:solidFill>
                          <a:latin typeface="Aptos"/>
                          <a:ea typeface="Aptos"/>
                          <a:cs typeface="Aptos"/>
                        </a:rPr>
                        <a:t>C</a:t>
                      </a:r>
                    </a:p>
                  </a:txBody>
                  <a:tcPr marL="91440" marR="91440" marT="45720" marB="45720">
                    <a:solidFill>
                      <a:srgbClr val="E9EEEA"/>
                    </a:solidFill>
                  </a:tcPr>
                </a:tc>
              </a:tr>
              <a:tr h="464344">
                <a:tc>
                  <a:txBody>
                    <a:bodyPr/>
                    <a:lstStyle/>
                    <a:p>
                      <a:r>
                        <a:rPr sz="1950" b="0">
                          <a:solidFill>
                            <a:srgbClr val="152D3B"/>
                          </a:solidFill>
                          <a:latin typeface="Aptos"/>
                          <a:ea typeface="Aptos"/>
                          <a:cs typeface="Aptos"/>
                        </a:rPr>
                        <a:t>Wed</a:t>
                      </a:r>
                    </a:p>
                  </a:txBody>
                  <a:tcPr marL="91440" marR="91440" marT="45720" marB="45720">
                    <a:solidFill>
                      <a:srgbClr val="FFFFFF"/>
                    </a:solidFill>
                  </a:tcPr>
                </a:tc>
                <a:tc>
                  <a:txBody>
                    <a:bodyPr/>
                    <a:lstStyle/>
                    <a:p>
                      <a:r>
                        <a:rPr sz="1950" b="0">
                          <a:solidFill>
                            <a:srgbClr val="152D3B"/>
                          </a:solidFill>
                          <a:latin typeface="Aptos"/>
                          <a:ea typeface="Aptos"/>
                          <a:cs typeface="Aptos"/>
                        </a:rPr>
                        <a:t>D</a:t>
                      </a:r>
                    </a:p>
                  </a:txBody>
                  <a:tcPr marL="91440" marR="91440" marT="45720" marB="45720">
                    <a:solidFill>
                      <a:srgbClr val="FFFFFF"/>
                    </a:solidFill>
                  </a:tcPr>
                </a:tc>
                <a:tc>
                  <a:txBody>
                    <a:bodyPr/>
                    <a:lstStyle/>
                    <a:p>
                      <a:r>
                        <a:rPr sz="1950" b="0">
                          <a:solidFill>
                            <a:srgbClr val="152D3B"/>
                          </a:solidFill>
                          <a:latin typeface="Aptos"/>
                          <a:ea typeface="Aptos"/>
                          <a:cs typeface="Aptos"/>
                        </a:rPr>
                        <a:t>D</a:t>
                      </a:r>
                    </a:p>
                  </a:txBody>
                  <a:tcPr marL="91440" marR="91440" marT="45720" marB="45720">
                    <a:solidFill>
                      <a:srgbClr val="FFFFFF"/>
                    </a:solidFill>
                  </a:tcPr>
                </a:tc>
                <a:tc>
                  <a:txBody>
                    <a:bodyPr/>
                    <a:lstStyle/>
                    <a:p>
                      <a:r>
                        <a:rPr sz="1950" b="0">
                          <a:solidFill>
                            <a:srgbClr val="152D3B"/>
                          </a:solidFill>
                          <a:latin typeface="Aptos"/>
                          <a:ea typeface="Aptos"/>
                          <a:cs typeface="Aptos"/>
                        </a:rPr>
                        <a:t>D</a:t>
                      </a:r>
                    </a:p>
                  </a:txBody>
                  <a:tcPr marL="91440" marR="91440" marT="45720" marB="45720">
                    <a:solidFill>
                      <a:srgbClr val="FFFFFF"/>
                    </a:solidFill>
                  </a:tcPr>
                </a:tc>
                <a:tc>
                  <a:txBody>
                    <a:bodyPr/>
                    <a:lstStyle/>
                    <a:p>
                      <a:r>
                        <a:rPr sz="1950" b="0">
                          <a:solidFill>
                            <a:srgbClr val="152D3B"/>
                          </a:solidFill>
                          <a:latin typeface="Aptos"/>
                          <a:ea typeface="Aptos"/>
                          <a:cs typeface="Aptos"/>
                        </a:rPr>
                        <a:t>D</a:t>
                      </a:r>
                    </a:p>
                  </a:txBody>
                  <a:tcPr marL="91440" marR="91440" marT="45720" marB="45720">
                    <a:solidFill>
                      <a:srgbClr val="FFFFFF"/>
                    </a:solidFill>
                  </a:tcPr>
                </a:tc>
              </a:tr>
              <a:tr h="464344">
                <a:tc>
                  <a:txBody>
                    <a:bodyPr/>
                    <a:lstStyle/>
                    <a:p>
                      <a:r>
                        <a:rPr sz="1950" b="0">
                          <a:solidFill>
                            <a:srgbClr val="152D3B"/>
                          </a:solidFill>
                          <a:latin typeface="Aptos"/>
                          <a:ea typeface="Aptos"/>
                          <a:cs typeface="Aptos"/>
                        </a:rPr>
                        <a:t>Thu</a:t>
                      </a:r>
                    </a:p>
                  </a:txBody>
                  <a:tcPr marL="91440" marR="91440" marT="45720" marB="45720">
                    <a:solidFill>
                      <a:srgbClr val="E9EEEA"/>
                    </a:solidFill>
                  </a:tcPr>
                </a:tc>
                <a:tc>
                  <a:txBody>
                    <a:bodyPr/>
                    <a:lstStyle/>
                    <a:p>
                      <a:r>
                        <a:rPr sz="1950" b="0">
                          <a:solidFill>
                            <a:srgbClr val="152D3B"/>
                          </a:solidFill>
                          <a:latin typeface="Aptos"/>
                          <a:ea typeface="Aptos"/>
                          <a:cs typeface="Aptos"/>
                        </a:rPr>
                        <a:t>D</a:t>
                      </a:r>
                    </a:p>
                  </a:txBody>
                  <a:tcPr marL="91440" marR="91440" marT="45720" marB="45720">
                    <a:solidFill>
                      <a:srgbClr val="E9EEEA"/>
                    </a:solidFill>
                  </a:tcPr>
                </a:tc>
                <a:tc>
                  <a:txBody>
                    <a:bodyPr/>
                    <a:lstStyle/>
                    <a:p>
                      <a:r>
                        <a:rPr sz="1950" b="0">
                          <a:solidFill>
                            <a:srgbClr val="152D3B"/>
                          </a:solidFill>
                          <a:latin typeface="Aptos"/>
                          <a:ea typeface="Aptos"/>
                          <a:cs typeface="Aptos"/>
                        </a:rPr>
                        <a:t>E</a:t>
                      </a:r>
                    </a:p>
                  </a:txBody>
                  <a:tcPr marL="91440" marR="91440" marT="45720" marB="45720">
                    <a:solidFill>
                      <a:srgbClr val="E9EEEA"/>
                    </a:solidFill>
                  </a:tcPr>
                </a:tc>
                <a:tc>
                  <a:txBody>
                    <a:bodyPr/>
                    <a:lstStyle/>
                    <a:p>
                      <a:r>
                        <a:rPr sz="1950" b="0">
                          <a:solidFill>
                            <a:srgbClr val="152D3B"/>
                          </a:solidFill>
                          <a:latin typeface="Aptos"/>
                          <a:ea typeface="Aptos"/>
                          <a:cs typeface="Aptos"/>
                        </a:rPr>
                        <a:t>D</a:t>
                      </a:r>
                    </a:p>
                  </a:txBody>
                  <a:tcPr marL="91440" marR="91440" marT="45720" marB="45720">
                    <a:solidFill>
                      <a:srgbClr val="E9EEEA"/>
                    </a:solidFill>
                  </a:tcPr>
                </a:tc>
                <a:tc>
                  <a:txBody>
                    <a:bodyPr/>
                    <a:lstStyle/>
                    <a:p>
                      <a:r>
                        <a:rPr sz="1950" b="0">
                          <a:solidFill>
                            <a:srgbClr val="152D3B"/>
                          </a:solidFill>
                          <a:latin typeface="Aptos"/>
                          <a:ea typeface="Aptos"/>
                          <a:cs typeface="Aptos"/>
                        </a:rPr>
                        <a:t>F</a:t>
                      </a:r>
                    </a:p>
                  </a:txBody>
                  <a:tcPr marL="91440" marR="91440" marT="45720" marB="45720">
                    <a:solidFill>
                      <a:srgbClr val="E9EEEA"/>
                    </a:solidFill>
                  </a:tcPr>
                </a:tc>
              </a:tr>
              <a:tr h="464344">
                <a:tc>
                  <a:txBody>
                    <a:bodyPr/>
                    <a:lstStyle/>
                    <a:p>
                      <a:r>
                        <a:rPr sz="1950" b="0">
                          <a:solidFill>
                            <a:srgbClr val="152D3B"/>
                          </a:solidFill>
                          <a:latin typeface="Aptos"/>
                          <a:ea typeface="Aptos"/>
                          <a:cs typeface="Aptos"/>
                        </a:rPr>
                        <a:t>Fri</a:t>
                      </a:r>
                    </a:p>
                  </a:txBody>
                  <a:tcPr marL="91440" marR="91440" marT="45720" marB="45720">
                    <a:solidFill>
                      <a:srgbClr val="FFFFFF"/>
                    </a:solidFill>
                  </a:tcPr>
                </a:tc>
                <a:tc>
                  <a:txBody>
                    <a:bodyPr/>
                    <a:lstStyle/>
                    <a:p>
                      <a:r>
                        <a:rPr sz="1950" b="0">
                          <a:solidFill>
                            <a:srgbClr val="152D3B"/>
                          </a:solidFill>
                          <a:latin typeface="Aptos"/>
                          <a:ea typeface="Aptos"/>
                          <a:cs typeface="Aptos"/>
                        </a:rPr>
                        <a:t>F</a:t>
                      </a:r>
                    </a:p>
                  </a:txBody>
                  <a:tcPr marL="91440" marR="91440" marT="45720" marB="45720">
                    <a:solidFill>
                      <a:srgbClr val="FFFFFF"/>
                    </a:solidFill>
                  </a:tcPr>
                </a:tc>
                <a:tc>
                  <a:txBody>
                    <a:bodyPr/>
                    <a:lstStyle/>
                    <a:p>
                      <a:r>
                        <a:rPr sz="1950" b="0">
                          <a:solidFill>
                            <a:srgbClr val="152D3B"/>
                          </a:solidFill>
                          <a:latin typeface="Aptos"/>
                          <a:ea typeface="Aptos"/>
                          <a:cs typeface="Aptos"/>
                        </a:rPr>
                        <a:t>E</a:t>
                      </a:r>
                    </a:p>
                  </a:txBody>
                  <a:tcPr marL="91440" marR="91440" marT="45720" marB="45720">
                    <a:solidFill>
                      <a:srgbClr val="FFFFFF"/>
                    </a:solidFill>
                  </a:tcPr>
                </a:tc>
                <a:tc>
                  <a:txBody>
                    <a:bodyPr/>
                    <a:lstStyle/>
                    <a:p>
                      <a:r>
                        <a:rPr sz="1950" b="0">
                          <a:solidFill>
                            <a:srgbClr val="152D3B"/>
                          </a:solidFill>
                          <a:latin typeface="Aptos"/>
                          <a:ea typeface="Aptos"/>
                          <a:cs typeface="Aptos"/>
                        </a:rPr>
                        <a:t>F</a:t>
                      </a:r>
                    </a:p>
                  </a:txBody>
                  <a:tcPr marL="91440" marR="91440" marT="45720" marB="45720">
                    <a:solidFill>
                      <a:srgbClr val="FFFFFF"/>
                    </a:solidFill>
                  </a:tcPr>
                </a:tc>
                <a:tc>
                  <a:txBody>
                    <a:bodyPr/>
                    <a:lstStyle/>
                    <a:p>
                      <a:r>
                        <a:rPr sz="1950" b="0">
                          <a:solidFill>
                            <a:srgbClr val="152D3B"/>
                          </a:solidFill>
                          <a:latin typeface="Aptos"/>
                          <a:ea typeface="Aptos"/>
                          <a:cs typeface="Aptos"/>
                        </a:rPr>
                        <a:t>F</a:t>
                      </a:r>
                    </a:p>
                  </a:txBody>
                  <a:tcPr marL="91440" marR="91440" marT="45720" marB="45720">
                    <a:solidFill>
                      <a:srgbClr val="FFFFFF"/>
                    </a:solidFill>
                  </a:tcPr>
                </a:tc>
              </a:tr>
              <a:tr h="464344">
                <a:tc>
                  <a:txBody>
                    <a:bodyPr/>
                    <a:lstStyle/>
                    <a:p>
                      <a:r>
                        <a:rPr sz="1950" b="0">
                          <a:solidFill>
                            <a:srgbClr val="152D3B"/>
                          </a:solidFill>
                          <a:latin typeface="Aptos"/>
                          <a:ea typeface="Aptos"/>
                          <a:cs typeface="Aptos"/>
                        </a:rPr>
                        <a:t>Sat</a:t>
                      </a:r>
                    </a:p>
                  </a:txBody>
                  <a:tcPr marL="91440" marR="91440" marT="45720" marB="45720">
                    <a:solidFill>
                      <a:srgbClr val="E9EEEA"/>
                    </a:solidFill>
                  </a:tcPr>
                </a:tc>
                <a:tc>
                  <a:txBody>
                    <a:bodyPr/>
                    <a:lstStyle/>
                    <a:p>
                      <a:r>
                        <a:rPr sz="1950" b="0">
                          <a:solidFill>
                            <a:srgbClr val="152D3B"/>
                          </a:solidFill>
                          <a:latin typeface="Aptos"/>
                          <a:ea typeface="Aptos"/>
                          <a:cs typeface="Aptos"/>
                        </a:rPr>
                        <a:t>H</a:t>
                      </a:r>
                    </a:p>
                  </a:txBody>
                  <a:tcPr marL="91440" marR="91440" marT="45720" marB="45720">
                    <a:solidFill>
                      <a:srgbClr val="E9EEEA"/>
                    </a:solidFill>
                  </a:tcPr>
                </a:tc>
                <a:tc>
                  <a:txBody>
                    <a:bodyPr/>
                    <a:lstStyle/>
                    <a:p>
                      <a:r>
                        <a:rPr sz="1950" b="0">
                          <a:solidFill>
                            <a:srgbClr val="152D3B"/>
                          </a:solidFill>
                          <a:latin typeface="Aptos"/>
                          <a:ea typeface="Aptos"/>
                          <a:cs typeface="Aptos"/>
                        </a:rPr>
                        <a:t>E</a:t>
                      </a:r>
                    </a:p>
                  </a:txBody>
                  <a:tcPr marL="91440" marR="91440" marT="45720" marB="45720">
                    <a:solidFill>
                      <a:srgbClr val="E9EEEA"/>
                    </a:solidFill>
                  </a:tcPr>
                </a:tc>
                <a:tc>
                  <a:txBody>
                    <a:bodyPr/>
                    <a:lstStyle/>
                    <a:p>
                      <a:r>
                        <a:rPr sz="1950" b="0">
                          <a:solidFill>
                            <a:srgbClr val="152D3B"/>
                          </a:solidFill>
                          <a:latin typeface="Aptos"/>
                          <a:ea typeface="Aptos"/>
                          <a:cs typeface="Aptos"/>
                        </a:rPr>
                        <a:t>E</a:t>
                      </a:r>
                    </a:p>
                  </a:txBody>
                  <a:tcPr marL="91440" marR="91440" marT="45720" marB="45720">
                    <a:solidFill>
                      <a:srgbClr val="E9EEEA"/>
                    </a:solidFill>
                  </a:tcPr>
                </a:tc>
                <a:tc>
                  <a:txBody>
                    <a:bodyPr/>
                    <a:lstStyle/>
                    <a:p>
                      <a:r>
                        <a:rPr sz="1950" b="0">
                          <a:solidFill>
                            <a:srgbClr val="152D3B"/>
                          </a:solidFill>
                          <a:latin typeface="Aptos"/>
                          <a:ea typeface="Aptos"/>
                          <a:cs typeface="Aptos"/>
                        </a:rPr>
                        <a:t>E</a:t>
                      </a:r>
                    </a:p>
                  </a:txBody>
                  <a:tcPr marL="91440" marR="91440" marT="45720" marB="45720">
                    <a:solidFill>
                      <a:srgbClr val="E9EEEA"/>
                    </a:solidFill>
                  </a:tcPr>
                </a:tc>
              </a:tr>
              <a:tr h="464344">
                <a:tc>
                  <a:txBody>
                    <a:bodyPr/>
                    <a:lstStyle/>
                    <a:p>
                      <a:r>
                        <a:rPr sz="1950" b="0">
                          <a:solidFill>
                            <a:srgbClr val="152D3B"/>
                          </a:solidFill>
                          <a:latin typeface="Aptos"/>
                          <a:ea typeface="Aptos"/>
                          <a:cs typeface="Aptos"/>
                        </a:rPr>
                        <a:t>Sun</a:t>
                      </a:r>
                    </a:p>
                  </a:txBody>
                  <a:tcPr marL="91440" marR="91440" marT="45720" marB="45720">
                    <a:solidFill>
                      <a:srgbClr val="FFFFFF"/>
                    </a:solidFill>
                  </a:tcPr>
                </a:tc>
                <a:tc>
                  <a:txBody>
                    <a:bodyPr/>
                    <a:lstStyle/>
                    <a:p>
                      <a:r>
                        <a:rPr sz="1950" b="0">
                          <a:solidFill>
                            <a:srgbClr val="152D3B"/>
                          </a:solidFill>
                          <a:latin typeface="Aptos"/>
                          <a:ea typeface="Aptos"/>
                          <a:cs typeface="Aptos"/>
                        </a:rPr>
                        <a:t>H</a:t>
                      </a:r>
                    </a:p>
                  </a:txBody>
                  <a:tcPr marL="91440" marR="91440" marT="45720" marB="45720">
                    <a:solidFill>
                      <a:srgbClr val="FFFFFF"/>
                    </a:solidFill>
                  </a:tcPr>
                </a:tc>
                <a:tc>
                  <a:txBody>
                    <a:bodyPr/>
                    <a:lstStyle/>
                    <a:p>
                      <a:r>
                        <a:rPr sz="1950" b="0">
                          <a:solidFill>
                            <a:srgbClr val="152D3B"/>
                          </a:solidFill>
                          <a:latin typeface="Aptos"/>
                          <a:ea typeface="Aptos"/>
                          <a:cs typeface="Aptos"/>
                        </a:rPr>
                        <a:t>E</a:t>
                      </a:r>
                    </a:p>
                  </a:txBody>
                  <a:tcPr marL="91440" marR="91440" marT="45720" marB="45720">
                    <a:solidFill>
                      <a:srgbClr val="FFFFFF"/>
                    </a:solidFill>
                  </a:tcPr>
                </a:tc>
                <a:tc>
                  <a:txBody>
                    <a:bodyPr/>
                    <a:lstStyle/>
                    <a:p>
                      <a:r>
                        <a:rPr sz="1950" b="0">
                          <a:solidFill>
                            <a:srgbClr val="152D3B"/>
                          </a:solidFill>
                          <a:latin typeface="Aptos"/>
                          <a:ea typeface="Aptos"/>
                          <a:cs typeface="Aptos"/>
                        </a:rPr>
                        <a:t>E</a:t>
                      </a:r>
                    </a:p>
                  </a:txBody>
                  <a:tcPr marL="91440" marR="91440" marT="45720" marB="45720">
                    <a:solidFill>
                      <a:srgbClr val="FFFFFF"/>
                    </a:solidFill>
                  </a:tcPr>
                </a:tc>
                <a:tc>
                  <a:txBody>
                    <a:bodyPr/>
                    <a:lstStyle/>
                    <a:p>
                      <a:r>
                        <a:rPr sz="1950" b="0">
                          <a:solidFill>
                            <a:srgbClr val="152D3B"/>
                          </a:solidFill>
                          <a:latin typeface="Aptos"/>
                          <a:ea typeface="Aptos"/>
                          <a:cs typeface="Aptos"/>
                        </a:rPr>
                        <a:t>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7935229-35C7-4D4A-8C4D-2295693C63FF}"/>
              </a:ext>
            </a:extLst>
          </p:cNvPr>
          <p:cNvSpPr>
            <a:spLocks xmlns:a="http://schemas.openxmlformats.org/drawingml/2006/main" noGrp="1"/>
          </p:cNvSpPr>
          <p:nvPr/>
        </p:nvSpPr>
        <p:spPr>
          <a:xfrm xmlns:a="http://schemas.openxmlformats.org/drawingml/2006/main">
            <a:off x="609600" y="56007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66C78"/>
                </a:solidFill>
                <a:latin typeface="Aptos"/>
                <a:ea typeface="Aptos"/>
                <a:cs typeface="Aptos"/>
              </a:defRPr>
            </a:pPr>
            <a:r>
              <a:rPr sz="2250" b="0">
                <a:solidFill>
                  <a:srgbClr val="566C78"/>
                </a:solidFill>
                <a:latin typeface="Aptos"/>
                <a:ea typeface="Aptos"/>
                <a:cs typeface="Aptos"/>
              </a:rPr>
              <a:t>Task switching remains unpenalized.</a:t>
            </a:r>
          </a:p>
        </p:txBody>
      </p:sp>
    </p:spTree>
    <p:extLst>
      <p:ext uri="{BB962C8B-B14F-4D97-AF65-F5344CB8AC3E}">
        <p14:creationId xmlns:p14="http://schemas.microsoft.com/office/powerpoint/2010/main" val="1165333360"/>
      </p:ext>
    </p:extLst>
  </p:cSld>
</p:sld>
</file>

<file path=ppt/slides/slide1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6E1692-A624-4C41-A298-6A92CAF52823}"/>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D3B"/>
                </a:solidFill>
                <a:latin typeface="Aptos"/>
                <a:ea typeface="Aptos"/>
                <a:cs typeface="Aptos"/>
              </a:defRPr>
            </a:pPr>
            <a:r>
              <a:rPr sz="3450" b="1">
                <a:solidFill>
                  <a:srgbClr val="152D3B"/>
                </a:solidFill>
                <a:latin typeface="Aptos"/>
                <a:ea typeface="Aptos"/>
                <a:cs typeface="Aptos"/>
              </a:rPr>
              <a:t>The assumptions change the answer</a:t>
            </a:r>
          </a:p>
        </p:txBody>
      </p:sp>
      <p:sp>
        <p:nvSpPr>
          <p:cNvPr id="2" name="">
            <a:extLst xmlns:a="http://schemas.openxmlformats.org/drawingml/2006/main">
              <a:ext uri="{FF2B5EF4-FFF2-40B4-BE49-F238E27FC236}">
                <a16:creationId xmlns:a16="http://schemas.microsoft.com/office/drawing/2014/main" id="{E00D1CA3-69F9-4766-8A04-853A09AC5FC1}"/>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C78"/>
                </a:solidFill>
                <a:latin typeface="Aptos"/>
                <a:ea typeface="Aptos"/>
                <a:cs typeface="Aptos"/>
              </a:defRPr>
            </a:pPr>
            <a:r>
              <a:rPr sz="1350" b="0">
                <a:solidFill>
                  <a:srgbClr val="566C78"/>
                </a:solidFill>
                <a:latin typeface="Aptos"/>
                <a:ea typeface="Aptos"/>
                <a:cs typeface="Aptos"/>
              </a:rPr>
              <a:t>12</a:t>
            </a:r>
          </a:p>
        </p:txBody>
      </p:sp>
      <p:graphicFrame>
        <p:nvGraphicFramePr>
          <p:cNvPr id="7" name=""/>
          <p:cNvGraphicFramePr/>
          <p:nvPr/>
        </p:nvGraphicFramePr>
        <p:xfrm>
          <a:off xmlns:a="http://schemas.openxmlformats.org/drawingml/2006/main" x="609600" y="1619250"/>
          <a:ext xmlns:a="http://schemas.openxmlformats.org/drawingml/2006/main" cx="10972800" cy="3190875"/>
        </p:xfrm>
        <a:graphic xmlns:a="http://schemas.openxmlformats.org/drawingml/2006/main">
          <a:graphicData uri="http://schemas.openxmlformats.org/drawingml/2006/table">
            <a:tbl>
              <a:tblPr/>
              <a:tblGrid>
                <a:gridCol w="5486400"/>
                <a:gridCol w="5486400"/>
              </a:tblGrid>
              <a:tr h="531813">
                <a:tc>
                  <a:txBody>
                    <a:bodyPr/>
                    <a:lstStyle/>
                    <a:p>
                      <a:r>
                        <a:rPr sz="2025" b="1">
                          <a:solidFill>
                            <a:srgbClr val="F5F4EF"/>
                          </a:solidFill>
                          <a:latin typeface="Aptos"/>
                          <a:ea typeface="Aptos"/>
                          <a:cs typeface="Aptos"/>
                        </a:rPr>
                        <a:t>Scenario</a:t>
                      </a:r>
                    </a:p>
                  </a:txBody>
                  <a:tcPr marL="91440" marR="91440" marT="45720" marB="45720">
                    <a:solidFill>
                      <a:srgbClr val="102331"/>
                    </a:solidFill>
                  </a:tcPr>
                </a:tc>
                <a:tc>
                  <a:txBody>
                    <a:bodyPr/>
                    <a:lstStyle/>
                    <a:p>
                      <a:r>
                        <a:rPr sz="2025" b="1">
                          <a:solidFill>
                            <a:srgbClr val="F5F4EF"/>
                          </a:solidFill>
                          <a:latin typeface="Aptos"/>
                          <a:ea typeface="Aptos"/>
                          <a:cs typeface="Aptos"/>
                        </a:rPr>
                        <a:t>Optimal value</a:t>
                      </a:r>
                    </a:p>
                  </a:txBody>
                  <a:tcPr marL="91440" marR="91440" marT="45720" marB="45720">
                    <a:solidFill>
                      <a:srgbClr val="102331"/>
                    </a:solidFill>
                  </a:tcPr>
                </a:tc>
              </a:tr>
              <a:tr h="531813">
                <a:tc>
                  <a:txBody>
                    <a:bodyPr/>
                    <a:lstStyle/>
                    <a:p>
                      <a:r>
                        <a:rPr sz="2025" b="0">
                          <a:solidFill>
                            <a:srgbClr val="152D3B"/>
                          </a:solidFill>
                          <a:latin typeface="Aptos"/>
                          <a:ea typeface="Aptos"/>
                          <a:cs typeface="Aptos"/>
                        </a:rPr>
                        <a:t>Base case</a:t>
                      </a:r>
                    </a:p>
                  </a:txBody>
                  <a:tcPr marL="91440" marR="91440" marT="45720" marB="45720">
                    <a:solidFill>
                      <a:srgbClr val="FFFFFF"/>
                    </a:solidFill>
                  </a:tcPr>
                </a:tc>
                <a:tc>
                  <a:txBody>
                    <a:bodyPr/>
                    <a:lstStyle/>
                    <a:p>
                      <a:r>
                        <a:rPr sz="2025" b="0">
                          <a:solidFill>
                            <a:srgbClr val="152D3B"/>
                          </a:solidFill>
                          <a:latin typeface="Aptos"/>
                          <a:ea typeface="Aptos"/>
                          <a:cs typeface="Aptos"/>
                        </a:rPr>
                        <a:t>67</a:t>
                      </a:r>
                    </a:p>
                  </a:txBody>
                  <a:tcPr marL="91440" marR="91440" marT="45720" marB="45720">
                    <a:solidFill>
                      <a:srgbClr val="FFFFFF"/>
                    </a:solidFill>
                  </a:tcPr>
                </a:tc>
              </a:tr>
              <a:tr h="531813">
                <a:tc>
                  <a:txBody>
                    <a:bodyPr/>
                    <a:lstStyle/>
                    <a:p>
                      <a:r>
                        <a:rPr sz="2025" b="0">
                          <a:solidFill>
                            <a:srgbClr val="152D3B"/>
                          </a:solidFill>
                          <a:latin typeface="Aptos"/>
                          <a:ea typeface="Aptos"/>
                          <a:cs typeface="Aptos"/>
                        </a:rPr>
                        <a:t>Lose Wednesday evening</a:t>
                      </a:r>
                    </a:p>
                  </a:txBody>
                  <a:tcPr marL="91440" marR="91440" marT="45720" marB="45720">
                    <a:solidFill>
                      <a:srgbClr val="E9EEEA"/>
                    </a:solidFill>
                  </a:tcPr>
                </a:tc>
                <a:tc>
                  <a:txBody>
                    <a:bodyPr/>
                    <a:lstStyle/>
                    <a:p>
                      <a:r>
                        <a:rPr sz="2025" b="0">
                          <a:solidFill>
                            <a:srgbClr val="152D3B"/>
                          </a:solidFill>
                          <a:latin typeface="Aptos"/>
                          <a:ea typeface="Aptos"/>
                          <a:cs typeface="Aptos"/>
                        </a:rPr>
                        <a:t>59</a:t>
                      </a:r>
                    </a:p>
                  </a:txBody>
                  <a:tcPr marL="91440" marR="91440" marT="45720" marB="45720">
                    <a:solidFill>
                      <a:srgbClr val="E9EEEA"/>
                    </a:solidFill>
                  </a:tcPr>
                </a:tc>
              </a:tr>
              <a:tr h="531813">
                <a:tc>
                  <a:txBody>
                    <a:bodyPr/>
                    <a:lstStyle/>
                    <a:p>
                      <a:r>
                        <a:rPr sz="2025" b="0">
                          <a:solidFill>
                            <a:srgbClr val="152D3B"/>
                          </a:solidFill>
                          <a:latin typeface="Aptos"/>
                          <a:ea typeface="Aptos"/>
                          <a:cs typeface="Aptos"/>
                        </a:rPr>
                        <a:t>Add 1 hour each day</a:t>
                      </a:r>
                    </a:p>
                  </a:txBody>
                  <a:tcPr marL="91440" marR="91440" marT="45720" marB="45720">
                    <a:solidFill>
                      <a:srgbClr val="FFFFFF"/>
                    </a:solidFill>
                  </a:tcPr>
                </a:tc>
                <a:tc>
                  <a:txBody>
                    <a:bodyPr/>
                    <a:lstStyle/>
                    <a:p>
                      <a:r>
                        <a:rPr sz="2025" b="0">
                          <a:solidFill>
                            <a:srgbClr val="152D3B"/>
                          </a:solidFill>
                          <a:latin typeface="Aptos"/>
                          <a:ea typeface="Aptos"/>
                          <a:cs typeface="Aptos"/>
                        </a:rPr>
                        <a:t>89</a:t>
                      </a:r>
                    </a:p>
                  </a:txBody>
                  <a:tcPr marL="91440" marR="91440" marT="45720" marB="45720">
                    <a:solidFill>
                      <a:srgbClr val="FFFFFF"/>
                    </a:solidFill>
                  </a:tcPr>
                </a:tc>
              </a:tr>
              <a:tr h="531813">
                <a:tc>
                  <a:txBody>
                    <a:bodyPr/>
                    <a:lstStyle/>
                    <a:p>
                      <a:r>
                        <a:rPr sz="2025" b="0">
                          <a:solidFill>
                            <a:srgbClr val="152D3B"/>
                          </a:solidFill>
                          <a:latin typeface="Aptos"/>
                          <a:ea typeface="Aptos"/>
                          <a:cs typeface="Aptos"/>
                        </a:rPr>
                        <a:t>Effort estimates +25%</a:t>
                      </a:r>
                    </a:p>
                  </a:txBody>
                  <a:tcPr marL="91440" marR="91440" marT="45720" marB="45720">
                    <a:solidFill>
                      <a:srgbClr val="E9EEEA"/>
                    </a:solidFill>
                  </a:tcPr>
                </a:tc>
                <a:tc>
                  <a:txBody>
                    <a:bodyPr/>
                    <a:lstStyle/>
                    <a:p>
                      <a:r>
                        <a:rPr sz="2025" b="0">
                          <a:solidFill>
                            <a:srgbClr val="152D3B"/>
                          </a:solidFill>
                          <a:latin typeface="Aptos"/>
                          <a:ea typeface="Aptos"/>
                          <a:cs typeface="Aptos"/>
                        </a:rPr>
                        <a:t>55</a:t>
                      </a:r>
                    </a:p>
                  </a:txBody>
                  <a:tcPr marL="91440" marR="91440" marT="45720" marB="45720">
                    <a:solidFill>
                      <a:srgbClr val="E9EEEA"/>
                    </a:solidFill>
                  </a:tcPr>
                </a:tc>
              </a:tr>
              <a:tr h="531813">
                <a:tc>
                  <a:txBody>
                    <a:bodyPr/>
                    <a:lstStyle/>
                    <a:p>
                      <a:r>
                        <a:rPr sz="2025" b="0">
                          <a:solidFill>
                            <a:srgbClr val="152D3B"/>
                          </a:solidFill>
                          <a:latin typeface="Aptos"/>
                          <a:ea typeface="Aptos"/>
                          <a:cs typeface="Aptos"/>
                        </a:rPr>
                        <a:t>Double reading value</a:t>
                      </a:r>
                    </a:p>
                  </a:txBody>
                  <a:tcPr marL="91440" marR="91440" marT="45720" marB="45720">
                    <a:solidFill>
                      <a:srgbClr val="FFFFFF"/>
                    </a:solidFill>
                  </a:tcPr>
                </a:tc>
                <a:tc>
                  <a:txBody>
                    <a:bodyPr/>
                    <a:lstStyle/>
                    <a:p>
                      <a:r>
                        <a:rPr sz="2025" b="0">
                          <a:solidFill>
                            <a:srgbClr val="152D3B"/>
                          </a:solidFill>
                          <a:latin typeface="Aptos"/>
                          <a:ea typeface="Aptos"/>
                          <a:cs typeface="Aptos"/>
                        </a:rPr>
                        <a:t>67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CD5AC8C-927B-4907-A528-63F59F94D196}"/>
              </a:ext>
            </a:extLst>
          </p:cNvPr>
          <p:cNvSpPr>
            <a:spLocks xmlns:a="http://schemas.openxmlformats.org/drawingml/2006/main" noGrp="1"/>
          </p:cNvSpPr>
          <p:nvPr/>
        </p:nvSpPr>
        <p:spPr>
          <a:xfrm xmlns:a="http://schemas.openxmlformats.org/drawingml/2006/main">
            <a:off x="609600" y="52578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2D3B"/>
                </a:solidFill>
                <a:latin typeface="Aptos"/>
                <a:ea typeface="Aptos"/>
                <a:cs typeface="Aptos"/>
              </a:defRPr>
            </a:pPr>
            <a:r>
              <a:rPr sz="2625" b="1">
                <a:solidFill>
                  <a:srgbClr val="152D3B"/>
                </a:solidFill>
                <a:latin typeface="Aptos"/>
                <a:ea typeface="Aptos"/>
                <a:cs typeface="Aptos"/>
              </a:rPr>
              <a:t>Optimal for the inputs. Dependent on the assumptions.</a:t>
            </a:r>
          </a:p>
        </p:txBody>
      </p:sp>
    </p:spTree>
    <p:extLst>
      <p:ext uri="{BB962C8B-B14F-4D97-AF65-F5344CB8AC3E}">
        <p14:creationId xmlns:p14="http://schemas.microsoft.com/office/powerpoint/2010/main" val="1129997392"/>
      </p:ext>
    </p:extLst>
  </p:cSld>
</p:sld>
</file>

<file path=ppt/slides/slide1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303D2E-1DBC-4465-9570-6D51DAC2E1B7}"/>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D3B"/>
                </a:solidFill>
                <a:latin typeface="Aptos"/>
                <a:ea typeface="Aptos"/>
                <a:cs typeface="Aptos"/>
              </a:defRPr>
            </a:pPr>
            <a:r>
              <a:rPr sz="3450" b="1">
                <a:solidFill>
                  <a:srgbClr val="152D3B"/>
                </a:solidFill>
                <a:latin typeface="Aptos"/>
                <a:ea typeface="Aptos"/>
                <a:cs typeface="Aptos"/>
              </a:rPr>
              <a:t>References and reproducibility</a:t>
            </a:r>
          </a:p>
        </p:txBody>
      </p:sp>
      <p:sp>
        <p:nvSpPr>
          <p:cNvPr id="2" name="">
            <a:extLst xmlns:a="http://schemas.openxmlformats.org/drawingml/2006/main">
              <a:ext uri="{FF2B5EF4-FFF2-40B4-BE49-F238E27FC236}">
                <a16:creationId xmlns:a16="http://schemas.microsoft.com/office/drawing/2014/main" id="{F1B038ED-C56A-403D-9E85-2D0ACC7E7AD8}"/>
              </a:ext>
            </a:extLst>
          </p:cNvPr>
          <p:cNvSpPr>
            <a:spLocks xmlns:a="http://schemas.openxmlformats.org/drawingml/2006/main" noGrp="1"/>
          </p:cNvSpPr>
          <p:nvPr/>
        </p:nvSpPr>
        <p:spPr>
          <a:xfrm xmlns:a="http://schemas.openxmlformats.org/drawingml/2006/main">
            <a:off x="10953750" y="62579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C78"/>
                </a:solidFill>
                <a:latin typeface="Aptos"/>
                <a:ea typeface="Aptos"/>
                <a:cs typeface="Aptos"/>
              </a:defRPr>
            </a:pPr>
            <a:r>
              <a:rPr sz="1350" b="0">
                <a:solidFill>
                  <a:srgbClr val="566C78"/>
                </a:solidFill>
                <a:latin typeface="Aptos"/>
                <a:ea typeface="Aptos"/>
                <a:cs typeface="Aptos"/>
              </a:rPr>
              <a:t>13</a:t>
            </a:r>
          </a:p>
        </p:txBody>
      </p:sp>
      <p:sp>
        <p:nvSpPr>
          <p:cNvPr id="3" name="">
            <a:extLst xmlns:a="http://schemas.openxmlformats.org/drawingml/2006/main">
              <a:ext uri="{FF2B5EF4-FFF2-40B4-BE49-F238E27FC236}">
                <a16:creationId xmlns:a16="http://schemas.microsoft.com/office/drawing/2014/main" id="{E288CA97-FF70-44AD-B00A-890ACB11032F}"/>
              </a:ext>
            </a:extLst>
          </p:cNvPr>
          <p:cNvSpPr>
            <a:spLocks xmlns:a="http://schemas.openxmlformats.org/drawingml/2006/main" noGrp="1"/>
          </p:cNvSpPr>
          <p:nvPr/>
        </p:nvSpPr>
        <p:spPr>
          <a:xfrm xmlns:a="http://schemas.openxmlformats.org/drawingml/2006/main">
            <a:off x="609600" y="17145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83"/>
                </a:solidFill>
                <a:latin typeface="Aptos"/>
                <a:ea typeface="Aptos"/>
                <a:cs typeface="Aptos"/>
              </a:defRPr>
            </a:pPr>
            <a:r>
              <a:rPr sz="2625" b="1">
                <a:solidFill>
                  <a:srgbClr val="087F83"/>
                </a:solidFill>
                <a:latin typeface="Aptos"/>
                <a:ea typeface="Aptos"/>
                <a:cs typeface="Aptos"/>
              </a:rPr>
              <a:t>astra.md</a:t>
            </a:r>
          </a:p>
        </p:txBody>
      </p:sp>
      <p:sp>
        <p:nvSpPr>
          <p:cNvPr id="4" name="">
            <a:extLst xmlns:a="http://schemas.openxmlformats.org/drawingml/2006/main">
              <a:ext uri="{FF2B5EF4-FFF2-40B4-BE49-F238E27FC236}">
                <a16:creationId xmlns:a16="http://schemas.microsoft.com/office/drawing/2014/main" id="{AB7C69A3-C23E-4351-B4EA-401161E15E98}"/>
              </a:ext>
            </a:extLst>
          </p:cNvPr>
          <p:cNvSpPr>
            <a:spLocks xmlns:a="http://schemas.openxmlformats.org/drawingml/2006/main" noGrp="1"/>
          </p:cNvSpPr>
          <p:nvPr/>
        </p:nvSpPr>
        <p:spPr>
          <a:xfrm xmlns:a="http://schemas.openxmlformats.org/drawingml/2006/main">
            <a:off x="609600" y="23622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D3B"/>
                </a:solidFill>
                <a:latin typeface="Aptos"/>
                <a:ea typeface="Aptos"/>
                <a:cs typeface="Aptos"/>
              </a:defRPr>
            </a:pPr>
            <a:r>
              <a:rPr sz="2100" b="0">
                <a:solidFill>
                  <a:srgbClr val="152D3B"/>
                </a:solidFill>
                <a:latin typeface="Aptos"/>
                <a:ea typeface="Aptos"/>
                <a:cs typeface="Aptos"/>
              </a:rPr>
              <a:t>Formal model, results, assumptions, and full citations</a:t>
            </a:r>
          </a:p>
        </p:txBody>
      </p:sp>
      <p:sp>
        <p:nvSpPr>
          <p:cNvPr id="5" name="">
            <a:extLst xmlns:a="http://schemas.openxmlformats.org/drawingml/2006/main">
              <a:ext uri="{FF2B5EF4-FFF2-40B4-BE49-F238E27FC236}">
                <a16:creationId xmlns:a16="http://schemas.microsoft.com/office/drawing/2014/main" id="{01D95152-A3BC-4A8C-9C6B-EEA239023384}"/>
              </a:ext>
            </a:extLst>
          </p:cNvPr>
          <p:cNvSpPr>
            <a:spLocks xmlns:a="http://schemas.openxmlformats.org/drawingml/2006/main" noGrp="1"/>
          </p:cNvSpPr>
          <p:nvPr/>
        </p:nvSpPr>
        <p:spPr>
          <a:xfrm xmlns:a="http://schemas.openxmlformats.org/drawingml/2006/main">
            <a:off x="609600" y="33051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83"/>
                </a:solidFill>
                <a:latin typeface="Aptos"/>
                <a:ea typeface="Aptos"/>
                <a:cs typeface="Aptos"/>
              </a:defRPr>
            </a:pPr>
            <a:r>
              <a:rPr sz="2625" b="1">
                <a:solidFill>
                  <a:srgbClr val="087F83"/>
                </a:solidFill>
                <a:latin typeface="Aptos"/>
                <a:ea typeface="Aptos"/>
                <a:cs typeface="Aptos"/>
              </a:rPr>
              <a:t>astra-solve.py + astra-results.json</a:t>
            </a:r>
          </a:p>
        </p:txBody>
      </p:sp>
      <p:sp>
        <p:nvSpPr>
          <p:cNvPr id="6" name="">
            <a:extLst xmlns:a="http://schemas.openxmlformats.org/drawingml/2006/main">
              <a:ext uri="{FF2B5EF4-FFF2-40B4-BE49-F238E27FC236}">
                <a16:creationId xmlns:a16="http://schemas.microsoft.com/office/drawing/2014/main" id="{06FA3AB4-BD01-46BE-8C07-96371048E1E3}"/>
              </a:ext>
            </a:extLst>
          </p:cNvPr>
          <p:cNvSpPr>
            <a:spLocks xmlns:a="http://schemas.openxmlformats.org/drawingml/2006/main" noGrp="1"/>
          </p:cNvSpPr>
          <p:nvPr/>
        </p:nvSpPr>
        <p:spPr>
          <a:xfrm xmlns:a="http://schemas.openxmlformats.org/drawingml/2006/main">
            <a:off x="609600" y="39528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D3B"/>
                </a:solidFill>
                <a:latin typeface="Aptos"/>
                <a:ea typeface="Aptos"/>
                <a:cs typeface="Aptos"/>
              </a:defRPr>
            </a:pPr>
            <a:r>
              <a:rPr sz="2100" b="0">
                <a:solidFill>
                  <a:srgbClr val="152D3B"/>
                </a:solidFill>
                <a:latin typeface="Aptos"/>
                <a:ea typeface="Aptos"/>
                <a:cs typeface="Aptos"/>
              </a:rPr>
              <a:t>Complete synthetic inputs, executable tests, and schedules</a:t>
            </a:r>
          </a:p>
        </p:txBody>
      </p:sp>
      <p:sp>
        <p:nvSpPr>
          <p:cNvPr id="7" name="">
            <a:extLst xmlns:a="http://schemas.openxmlformats.org/drawingml/2006/main">
              <a:ext uri="{FF2B5EF4-FFF2-40B4-BE49-F238E27FC236}">
                <a16:creationId xmlns:a16="http://schemas.microsoft.com/office/drawing/2014/main" id="{3D9EA791-EA06-4C86-9AE6-CEC7C2DFC28C}"/>
              </a:ext>
            </a:extLst>
          </p:cNvPr>
          <p:cNvSpPr>
            <a:spLocks xmlns:a="http://schemas.openxmlformats.org/drawingml/2006/main" noGrp="1"/>
          </p:cNvSpPr>
          <p:nvPr/>
        </p:nvSpPr>
        <p:spPr>
          <a:xfrm xmlns:a="http://schemas.openxmlformats.org/drawingml/2006/main">
            <a:off x="609600" y="51625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66C78"/>
                </a:solidFill>
                <a:latin typeface="Aptos"/>
                <a:ea typeface="Aptos"/>
                <a:cs typeface="Aptos"/>
              </a:defRPr>
            </a:pPr>
            <a:r>
              <a:rPr sz="2025" b="0">
                <a:solidFill>
                  <a:srgbClr val="566C78"/>
                </a:solidFill>
                <a:latin typeface="Aptos"/>
                <a:ea typeface="Aptos"/>
                <a:cs typeface="Aptos"/>
              </a:rPr>
              <a:t>Teacher’s Project 1 rubric · SciPy milp · HiGHS</a:t>
            </a:r>
          </a:p>
        </p:txBody>
      </p:sp>
    </p:spTree>
    <p:extLst>
      <p:ext uri="{BB962C8B-B14F-4D97-AF65-F5344CB8AC3E}">
        <p14:creationId xmlns:p14="http://schemas.microsoft.com/office/powerpoint/2010/main" val="18200757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2026-09-09T07:19:16.0980000Z</dcterms:created>
  <dcterms:modified xsi:type="dcterms:W3CDTF">2026-09-09T07:19:16.0980000Z</dcterms:modified>
</coreProperties>
</file>